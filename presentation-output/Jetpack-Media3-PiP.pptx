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20b0f9d8b6460c" /><Relationship Type="http://schemas.openxmlformats.org/officeDocument/2006/relationships/extended-properties" Target="/docProps/app.xml" Id="Rfefe900a6d5a4163" /><Relationship Type="http://schemas.openxmlformats.org/officeDocument/2006/relationships/officeDocument" Target="/ppt/presentation.xml" Id="R1574c4dcd8354517" /></Relationships>
</file>

<file path=ppt/presentation.xml><?xml version="1.0" encoding="utf-8"?>
<p:presentation xmlns:p="http://schemas.openxmlformats.org/presentationml/2006/main">
  <p:sldMasterIdLst>
    <p:sldMasterId xmlns:r="http://schemas.openxmlformats.org/officeDocument/2006/relationships" id="2147483648" r:id="R8f568ae2940f4829"/>
  </p:sldMasterIdLst>
  <p:notesMasterIdLst>
    <p:notesMasterId xmlns:r="http://schemas.openxmlformats.org/officeDocument/2006/relationships" r:id="R22d3af5ceded43da"/>
  </p:notesMasterIdLst>
  <p:sldIdLst>
    <p:sldId xmlns:r="http://schemas.openxmlformats.org/officeDocument/2006/relationships" id="256" r:id="Rc50edb29bccc449c"/>
    <p:sldId xmlns:r="http://schemas.openxmlformats.org/officeDocument/2006/relationships" id="257" r:id="R6df74abd0b9040e8"/>
    <p:sldId xmlns:r="http://schemas.openxmlformats.org/officeDocument/2006/relationships" id="258" r:id="Rb59090996bd94080"/>
    <p:sldId xmlns:r="http://schemas.openxmlformats.org/officeDocument/2006/relationships" id="259" r:id="Ra686748d92eb4989"/>
    <p:sldId xmlns:r="http://schemas.openxmlformats.org/officeDocument/2006/relationships" id="260" r:id="R30a71000ce104b17"/>
    <p:sldId xmlns:r="http://schemas.openxmlformats.org/officeDocument/2006/relationships" id="261" r:id="R604dea70d9844b32"/>
    <p:sldId xmlns:r="http://schemas.openxmlformats.org/officeDocument/2006/relationships" id="262" r:id="Rddcbebeb513f49e5"/>
    <p:sldId xmlns:r="http://schemas.openxmlformats.org/officeDocument/2006/relationships" id="263" r:id="R6dc8458f2ccc4d62"/>
    <p:sldId xmlns:r="http://schemas.openxmlformats.org/officeDocument/2006/relationships" id="264" r:id="R990287b38d814311"/>
    <p:sldId xmlns:r="http://schemas.openxmlformats.org/officeDocument/2006/relationships" id="265" r:id="Re5a32d6a3b4741e4"/>
    <p:sldId xmlns:r="http://schemas.openxmlformats.org/officeDocument/2006/relationships" id="266" r:id="Rdb67397e5a984671"/>
    <p:sldId xmlns:r="http://schemas.openxmlformats.org/officeDocument/2006/relationships" id="267" r:id="Rf1368538b00b4223"/>
    <p:sldId xmlns:r="http://schemas.openxmlformats.org/officeDocument/2006/relationships" id="268" r:id="R62b4dc369d59400c"/>
    <p:sldId xmlns:r="http://schemas.openxmlformats.org/officeDocument/2006/relationships" id="269" r:id="R4251c1a7f0694034"/>
    <p:sldId xmlns:r="http://schemas.openxmlformats.org/officeDocument/2006/relationships" id="270" r:id="Rdb5dfca506ed42be"/>
    <p:sldId xmlns:r="http://schemas.openxmlformats.org/officeDocument/2006/relationships" id="271" r:id="R45d45eaaa4ed4e5f"/>
    <p:sldId xmlns:r="http://schemas.openxmlformats.org/officeDocument/2006/relationships" id="272" r:id="R78f982e920854892"/>
    <p:sldId xmlns:r="http://schemas.openxmlformats.org/officeDocument/2006/relationships" id="273" r:id="Ra28054880f5b4818"/>
    <p:sldId xmlns:r="http://schemas.openxmlformats.org/officeDocument/2006/relationships" id="274" r:id="R6f57491a469f4f88"/>
    <p:sldId xmlns:r="http://schemas.openxmlformats.org/officeDocument/2006/relationships" id="275" r:id="Rae85c813cc7541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a1fea1535b43ec" /><Relationship Type="http://schemas.openxmlformats.org/officeDocument/2006/relationships/slideMaster" Target="/ppt/slideMasters/slideMaster1.xml" Id="R8f568ae2940f4829" /><Relationship Type="http://schemas.openxmlformats.org/officeDocument/2006/relationships/notesMaster" Target="/ppt/notesMasters/notesMaster1.xml" Id="R22d3af5ceded43da" /><Relationship Type="http://schemas.openxmlformats.org/officeDocument/2006/relationships/presProps" Target="/ppt/presProps.xml" Id="Rb9ee914b16bc4164" /><Relationship Type="http://schemas.openxmlformats.org/officeDocument/2006/relationships/tableStyles" Target="/ppt/tableStyles.xml" Id="Rcfd15dfbac3d4e96" /><Relationship Type="http://schemas.openxmlformats.org/officeDocument/2006/relationships/slide" Target="/ppt/slides/slide1.xml" Id="Rc50edb29bccc449c" /><Relationship Type="http://schemas.openxmlformats.org/officeDocument/2006/relationships/slide" Target="/ppt/slides/slide2.xml" Id="R6df74abd0b9040e8" /><Relationship Type="http://schemas.openxmlformats.org/officeDocument/2006/relationships/slide" Target="/ppt/slides/slide3.xml" Id="Rb59090996bd94080" /><Relationship Type="http://schemas.openxmlformats.org/officeDocument/2006/relationships/slide" Target="/ppt/slides/slide4.xml" Id="Ra686748d92eb4989" /><Relationship Type="http://schemas.openxmlformats.org/officeDocument/2006/relationships/slide" Target="/ppt/slides/slide5.xml" Id="R30a71000ce104b17" /><Relationship Type="http://schemas.openxmlformats.org/officeDocument/2006/relationships/slide" Target="/ppt/slides/slide6.xml" Id="R604dea70d9844b32" /><Relationship Type="http://schemas.openxmlformats.org/officeDocument/2006/relationships/slide" Target="/ppt/slides/slide7.xml" Id="Rddcbebeb513f49e5" /><Relationship Type="http://schemas.openxmlformats.org/officeDocument/2006/relationships/slide" Target="/ppt/slides/slide8.xml" Id="R6dc8458f2ccc4d62" /><Relationship Type="http://schemas.openxmlformats.org/officeDocument/2006/relationships/slide" Target="/ppt/slides/slide9.xml" Id="R990287b38d814311" /><Relationship Type="http://schemas.openxmlformats.org/officeDocument/2006/relationships/slide" Target="/ppt/slides/slide10.xml" Id="Re5a32d6a3b4741e4" /><Relationship Type="http://schemas.openxmlformats.org/officeDocument/2006/relationships/slide" Target="/ppt/slides/slide11.xml" Id="Rdb67397e5a984671" /><Relationship Type="http://schemas.openxmlformats.org/officeDocument/2006/relationships/slide" Target="/ppt/slides/slide12.xml" Id="Rf1368538b00b4223" /><Relationship Type="http://schemas.openxmlformats.org/officeDocument/2006/relationships/slide" Target="/ppt/slides/slide13.xml" Id="R62b4dc369d59400c" /><Relationship Type="http://schemas.openxmlformats.org/officeDocument/2006/relationships/slide" Target="/ppt/slides/slide14.xml" Id="R4251c1a7f0694034" /><Relationship Type="http://schemas.openxmlformats.org/officeDocument/2006/relationships/slide" Target="/ppt/slides/slide15.xml" Id="Rdb5dfca506ed42be" /><Relationship Type="http://schemas.openxmlformats.org/officeDocument/2006/relationships/slide" Target="/ppt/slides/slide16.xml" Id="R45d45eaaa4ed4e5f" /><Relationship Type="http://schemas.openxmlformats.org/officeDocument/2006/relationships/slide" Target="/ppt/slides/slide17.xml" Id="R78f982e920854892" /><Relationship Type="http://schemas.openxmlformats.org/officeDocument/2006/relationships/slide" Target="/ppt/slides/slide18.xml" Id="Ra28054880f5b4818" /><Relationship Type="http://schemas.openxmlformats.org/officeDocument/2006/relationships/slide" Target="/ppt/slides/slide19.xml" Id="R6f57491a469f4f88" /><Relationship Type="http://schemas.openxmlformats.org/officeDocument/2006/relationships/slide" Target="/ppt/slides/slide20.xml" Id="Rae85c813cc7541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947698760848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9cc34070814ea0" /><Relationship Type="http://schemas.openxmlformats.org/officeDocument/2006/relationships/notesMaster" Target="/ppt/notesMasters/notesMaster1.xml" Id="R85e3dd06ea7c4d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296d9b7de143cc" /><Relationship Type="http://schemas.openxmlformats.org/officeDocument/2006/relationships/notesMaster" Target="/ppt/notesMasters/notesMaster1.xml" Id="R98ba73044b7b4e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228861253c428c" /><Relationship Type="http://schemas.openxmlformats.org/officeDocument/2006/relationships/notesMaster" Target="/ppt/notesMasters/notesMaster1.xml" Id="Rfdb944cb4b6e4e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dcdf7be6554e88" /><Relationship Type="http://schemas.openxmlformats.org/officeDocument/2006/relationships/notesMaster" Target="/ppt/notesMasters/notesMaster1.xml" Id="Rf00609bac36146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93e11c517f41fc" /><Relationship Type="http://schemas.openxmlformats.org/officeDocument/2006/relationships/notesMaster" Target="/ppt/notesMasters/notesMaster1.xml" Id="R42641640d52d48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ae20ae46d84f08" /><Relationship Type="http://schemas.openxmlformats.org/officeDocument/2006/relationships/notesMaster" Target="/ppt/notesMasters/notesMaster1.xml" Id="R38cd5f456d1240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e2d6a546934981" /><Relationship Type="http://schemas.openxmlformats.org/officeDocument/2006/relationships/notesMaster" Target="/ppt/notesMasters/notesMaster1.xml" Id="R87357356abc44e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33d458a8464368" /><Relationship Type="http://schemas.openxmlformats.org/officeDocument/2006/relationships/notesMaster" Target="/ppt/notesMasters/notesMaster1.xml" Id="R7f469f49149847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5a2c4ed01e4812" /><Relationship Type="http://schemas.openxmlformats.org/officeDocument/2006/relationships/notesMaster" Target="/ppt/notesMasters/notesMaster1.xml" Id="R83395f22aaf548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5c2df4657f4252" /><Relationship Type="http://schemas.openxmlformats.org/officeDocument/2006/relationships/notesMaster" Target="/ppt/notesMasters/notesMaster1.xml" Id="R4c5ea75e335342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894be1d28a4af7" /><Relationship Type="http://schemas.openxmlformats.org/officeDocument/2006/relationships/notesMaster" Target="/ppt/notesMasters/notesMaster1.xml" Id="R30f56b93f0be46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3b8103dcb64dea" /><Relationship Type="http://schemas.openxmlformats.org/officeDocument/2006/relationships/notesMaster" Target="/ppt/notesMasters/notesMaster1.xml" Id="R38c346128b8546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5d11f5787d4265" /><Relationship Type="http://schemas.openxmlformats.org/officeDocument/2006/relationships/notesMaster" Target="/ppt/notesMasters/notesMaster1.xml" Id="R3939dec1f52040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e20964ab4a4264" /><Relationship Type="http://schemas.openxmlformats.org/officeDocument/2006/relationships/notesMaster" Target="/ppt/notesMasters/notesMaster1.xml" Id="R651eabe73cb64d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45ccfe977a64507" /><Relationship Type="http://schemas.openxmlformats.org/officeDocument/2006/relationships/notesMaster" Target="/ppt/notesMasters/notesMaster1.xml" Id="Rf4d4730d134f46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0d8dfcc22f421b" /><Relationship Type="http://schemas.openxmlformats.org/officeDocument/2006/relationships/notesMaster" Target="/ppt/notesMasters/notesMaster1.xml" Id="R60090a25fee94e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59fe188b114e42" /><Relationship Type="http://schemas.openxmlformats.org/officeDocument/2006/relationships/notesMaster" Target="/ppt/notesMasters/notesMaster1.xml" Id="R614d78b5e4d647c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a044935f86436b" /><Relationship Type="http://schemas.openxmlformats.org/officeDocument/2006/relationships/notesMaster" Target="/ppt/notesMasters/notesMaster1.xml" Id="Rbd1522485ad94e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3fbe36e52446ff" /><Relationship Type="http://schemas.openxmlformats.org/officeDocument/2006/relationships/notesMaster" Target="/ppt/notesMasters/notesMaster1.xml" Id="R2a979bf9aaf4445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512f2bb669348a7" /><Relationship Type="http://schemas.openxmlformats.org/officeDocument/2006/relationships/notesMaster" Target="/ppt/notesMasters/notesMaster1.xml" Id="R7732900e9ee64e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18–20 phút, gồm khoảng 2 phút demo do nhóm thêm. Mở đầu: nhóm tìm hiểu cách phát video, chọn chất lượng, phụ đề, audio rời và giữ video tiếp tục khi chuyển sang PiP. Code trong slide rút gọn từ project PGCK2, tập trung vào cơ chế. Các biến và View cần khai báo trong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Nói lộ trình: trước hết xác định vai trò từng thành phần, sau đó triển khai player và các điều khiển, cuối cùng xử lý PiP. Demo xen sau chất lượng/track và sau PiP. Không cần giới thiệu màn hình quản lý phim.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60 giây. Media3 là bộ thư viện Android Jetpack cho media, không phải “Jetpack phiên bản 3”. MediaItem chứa thông tin nguồn, không chuyển đổi hay tải xong video ngay. ExoPlayer điều phối phát và dùng decoder phù hợp trên thiết bị. PlayerView gắn với player qua setPlayer. MediaSession giúp hệ thống tương tác với player. PiP là chức năng Android riêng, không phải MediaSession tự tạo ra. Các module cập nhật cùng ứng dụng nhưng codec/phần cứng thiết bị vẫn ảnh hưởng khả năng phát. Nguồn: https://developer.android.com/media/media3 và https://developer.android.com/media/implement/playback-app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50 giây. VideoView tiện khi chỉ cần đưa URL và phát bằng controller cơ bản. Khi thêm chọn track video, nhiều audio, CC và ghép nguồn, Media3 cho các lớp chuyên dụng nên nhóm dễ tổ chức hơn. Không nói VideoView hoàn toàn không có phụ đề hoặc không thể làm PiP. VideoView có addSubtitleSource. Lợi thế ở mức kiểm soát và khả năng mở rộng, không phải đảm bảo hình đẹp hơn hay luôn nhanh hơn. Nguồn: https://developer.android.com/reference/android/widget/VideoView và https://developer.android.com/media/media3/exoplayer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60 giây. Quyền INTERNET đặt trong manifest, không xin qua popup runtime. XML permission và Java ở hai file khác nhau, slide gom để thấy các bước. Khởi tạo trong phần setup Activity rồi bind PlayerView lấy từ XML. setMediaItem chỉ đặt nguồn. prepare bắt đầu chuẩn bị, đọc thông tin và đệm. play thể hiện yêu cầu phát, không chứng minh video đã chạy ngay. Nguồn trực tiếp như MP4/HLS/DASH đi vào ExoPlayer. Link trang YouTube đi nhánh WebView/IFrame riêng trong project. Nguồn: PlayerActivity.playDirectMediaVideo/playDirectMediaSourceUrl; https://developer.android.com/media/media3/exoplayer/hello-world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90 giây. Video và âm thanh nén tải từ mạng về bộ nhớ để chờ phát. 15000 và 30000 là ngưỡng điều khiển lượng nội dung đệm phía trước, không phải giới hạn độ dài video. Khi đệm thấp player cố tải thêm, khi đạt mức tối đa có thể dừng tải. Ngưỡng 1500 là khoảng 1,5 giây nội dung để bắt đầu, 3000 là khoảng 3 giây nội dung trước khi phát lại sau khi hết buffer. Không phải luôn đợi đúng 1,5 hay 3 giây theo đồng hồ. Mạng nhanh có thể tải lượng đó rất nhanh. Chờ nhiều hơn sau rebuffer tạo dự phòng để giảm dừng liên tục, đổi lại mất thời gian chờ. prioritizeTime ưu tiên ngưỡng thời gian trước ngưỡng dung lượng mục tiêu. Không hứa hết giật hoặc tua đâu cũng mượt. Nguồn: PlayerActivity.playDirectMediaVideo; https://developer.android.com/reference/androidx/media3/exoplayer/DefaultLoadControl.Builder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50 giây. Tạo loadControl thôi chưa đủ, phải truyền vào builder. Seek increment là bước nhảy cho lệnh seekBack/seekForward của controller, không có nghĩa player luôn giữ sẵn 10 giây. Decoder fallback cho phép thử decoder ưu tiên thấp hơn nếu khởi tạo decoder thất bại, không phải tự chữa mọi lỗi giải mã hay tự nâng chất lượng. Project còn có cấu hình renderer/audio khác, slide chỉ giữ phần cần giải thích. Nguồn: PlayerActivity.playDirectMediaVideo; https://developer.android.com/reference/androidx/media3/exoplayer/DefaultRenderersFactory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65 giây. Trong code thật btnSpeed gọi showSpeedDialog, sau đó gọi changePlaybackSpeed. Hai mảng cùng thứ tự nên chỉ số which nối tên với hệ số tốc độ. PlaybackParameters(speed) giữ pitch mặc định 1. Player điều chỉnh thời gian phát hình/tiếng và giữ đồng bộ. Xử lý âm thanh thay đổi thời lượng, chất lượng nghe vẫn có thể thay đổi ở tốc độ lớn. Khác tua: tua bỏ qua một đoạn, tốc độ thay đổi thời gian đi qua nội dung. Đây là phiên bản rút gọn nhánh ExoPlayer, chưa có guard player null. Nguồn: PlayerActivity.showSpeedDialog/changePlaybackSpeed; https://developer.android.com/reference/androidx/media3/common/PlaybackParameters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40 giây. Trong project, phần kéo nằm trong onProgressChanged và chỉ áp dụng khi fromUser. Nút volume có if/else kiểm tra volume hiện tại, lưu lastNonZeroVolume và đồng bộ SeekBar. Code trên tách các nhánh để đọc nhanh, không thực thi cả ba nhánh liên tiếp. Mức 0,5 là hệ số gain của player, không khẳng định tai nghe cảm nhận nhỏ còn đúng một nửa. Đây không phải tăng độ trong, EQ hoặc thay đổi âm lượng hệ thống. Nguồn: PlayerActivity.setupControlListeners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60 giây. Đây là quét danh sách có thật sau khi player đọc được tracks. Thứ tự ví dụ không phải quy tắc luôn đúng. Một source có thể chia thành nhiều nhóm. Project gộp các mức cùng chiều cao vào một menu, có bitrate và chỉ lấy track hỗ trợ. Nhấn mạnh 720 không phải giá trị trackIndex. Nút chất lượng không upscale hay khôi phục chi tiết nguồn thấp. HLS/DASH phải cung cấp nhiều rendition thì mới chuyển được. Nguồn: PlayerActivity.showResolutionDialog/findBestVideoOverride; https://developer.android.com/media/media3/exoplayer/track-selection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75 giây. Hai đoạn là hai sự kiện menu khác nhau. Trong app menu gọi changeVideoResolutionByHeight, lưu qualityHeight, rồi reapplyQualitySelection. findBestVideoOverride ưu tiên chiều cao lớn nhất không vượt mục tiêu và bitrate cao hơn nếu cùng chiều cao. Auto thực tế còn clearVideoSizeConstraints và đặt max bitrate Integer.MAX_VALUE. Auto dùng lựa chọn adaptive khi nhóm/source hỗ trợ, xét ước lượng băng thông và buffer. Khóa một track có thể gây chờ nếu mạng không đủ. Project lưu lựa chọn bằng SharedPreferences và badge đọc getVideoSize().height để hiện kích thước đầu ra hiện tại. Demo gợi ý: nguồn đa chất lượng, chọn 720, quay về Auto và quan sát badge. Nguồn: PlayerActivity.reapplyQualitySelection/updateQualityBadge; https://developer.android.com/media/media3/exoplayer/track-selection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55 giây. Lấy file phụ đề có mốc thời gian rồi khai báo URI, MIME, ngôn ngữ và nhãn. Ví dụ dùng VTT nên MIME là TEXT_VTT. Project nhận diện đuôi SRT, kể cả URL có query, và dùng MimeTypes.APPLICATION_SUBRIP tương ứng. Danh sách thực tế có thể nhiều config. Player dùng timestamp để hiện câu chữ đúng lúc. Phụ đề rời bật/tắt được, không cần render chữ cứng vào hình. Nguồn: PlayerActivity.buildVideoItem; https://developer.android.com/media/media3/exoplayer/media-items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50 giây. Trong project showSubtitleDialog chỉ lấy các TEXT track được hỗ trợ từ currentTracks. Tránh cộng cả danh sách config và danh sách track thành hai bản giống nhau. MediaTracks loại URL trùng trước khi tạo source. Khi bấm một mục, lưu stable track key và đặt override đúng track. setPreferredTextLanguage chỉ là ưu tiên ngôn ngữ, chưa đủ để phân biệt hai bản cùng ngôn ngữ. restoreTrackChoices khôi phục sau khi source đổi. Demo: hai phụ đề khác nhau và tắt CC. Nguồn: PlayerActivity.showSubtitleDialog/selectEmbeddedSubtitle/restoreTrackChoices và MediaTracks.java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75 giây. Đây là phần nổi bật của project. Nếu giữ cả audio gốc thì có thể chọn nhầm tiếng hoặc phát không như mong muốn, nên FilteringMediaSource tách vai trò hai nguồn rõ ràng. File dub dù là MP4 cũng chỉ lấy audio. true cho phép điều chỉnh offset giữa các period của nguồn ghép, false không cắt thời lượng theo nguồn ngắn nhất. Nó không tự hiểu lời thoại để chữa dub lệch nội dung. Hai file phải khớp timeline. Audio nằm sẵn trong nguồn thì dùng TrackSelectionOverride, không cần ghép một URL mới. Nguồn: PlayerActivity.switchToAlternateAudioUrl; https://developer.android.com/reference/androidx/media3/exoplayer/source/MergingMediaSource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40 giây. Đổi audio rời tạo lại media source, có thể cần tải và đệm lại ngắn. Nhóm lưu vị trí và playWhenReady để không phát lại từ đầu hay tự chạy khi người dùng đang pause. Code thật còn xóa override cũ, áp dụng lại lựa chọn CC và chất lượng. Có nhánh switchToOriginalAudio để quay về tiếng gốc với cùng nguyên tắc. Demo phù hợp: pause giữa video, đổi dub rồi play và quay về tiếng gốc. Nguồn: PlayerActivity.switchToAlternateAudioUrl/switchToOriginalAudio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55 giây. PiP trên điện thoại có từ Android 8 API26, thiết bị cần hỗ trợ. Người dùng có thể tắt quyền PiP trong Settings. Không cần quyền vẽ đè SYSTEM_ALERT_WINDOW. Các dòng manifest là thuộc tính nằm cùng một thẻ Activity, chuỗi configChanges phải trên một giá trị liên tục khi chép vào XML. Project khai báo đủ configChanges để tự xử lý thay đổi layout thay vì tạo lại Activity cho các thay đổi đó. PiP không phải tính năng độc quyền ExoPlayer. Nguồn: AndroidManifest.xml và PlayerActivity.supportsPip; https://developer.android.com/develop/ui/views/picture-in-picture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60 giây. Chạy nhánh này sau kiểm tra API/feature. videoBounds là Rect lấy bằng framePlayerContainer.getGlobalVisibleRect. Slide dùng 16:9 để dễ đọc, project lấy VideoSize.width * pixelWidthHeightRatio / height và giới hạn tỷ lệ hợp lệ. onUserLeaveHint ở nhánh ExoPlayer kiểm tra isPlaying, sau đó gọi cùng helper enterPipMode. Đây chưa dùng setAutoEnterEnabled của Android12. enter helper còn bắt lỗi và báo nếu hệ thống không cho mở. Demo: đang phát bấm PiP hoặc Home rồi quay lại. Nguồn: PlayerActivity.buildPipParams/enterPipMode/onUserLeaveHint; https://developer.android.com/develop/ui/views/picture-in-picture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60 giây. Hệ thống hiển thị RemoteAction trong PiP. PendingIntent mô tả hành động Android gọi khi người dùng bấm. Receiver đã đăng ký nhận action, kiểm tra player.isPlaying rồi pause hoặc play. Sau đó updatePipParams dựng lại icon/title. intent giới hạn package, receiver đăng ký NOT_EXPORTED, PendingIntent immutable. Các biến icon/title/builder là phần rút gọn từ createPlayPauseAction và buildPipParams, không phải một hàm hoàn chỉnh. Project chỉ thêm action này cho nhánh ExoPlayer. Nguồn: PlayerActivity.broadcastReceiver/createPlayPauseAction/buildPipParams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70 giây. Callback thật onPictureInPictureModeChanged nhận inPip rồi ẩn topbar, chi tiết, controller và thay kích thước vùng video. Khi thoát khôi phục theo fullscreen. PiP còn hiển thị thì Activity vẫn started, không release ở onPause. Khi onStop thật sự xảy ra, lưu vị trí/volume/speed/ý định phát rồi release. onStart tạo lại và khôi phục. Đây là lưu trong biến Activity, chưa có resume bền vững sau process death. onDestroy release MediaSession và unregister receiver. Muốn phát âm thanh nền khi UI biến mất cần kiến trúc service riêng, project chưa có MediaSessionService. Nguồn: PlayerActivity.onPictureInPictureModeChanged/releasePlayer/onStart/onStop; https://developer.android.com/develop/ui/views/picture-in-picture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Dành khoảng 2 phút cho các video demo do nhóm tự thêm. Có thể chèn video vào slide này hoặc ngay sau từng chủ đề. Chọn nguồn HLS/DASH đa chất lượng để demo HD, nguồn video + CC + dub cùng timeline để demo ghép. Giới thiệu mỗi clip bằng thao tác, chỉ ra API xử lý, rồi cho xem kết quả. YouTube dùng IFrame riêng, không dùng nó làm bằng chứng ExoPlayer chọn HD hoặc ghép dub. Chốt: điều nhóm học được là nguồn, track và vòng đời quyết định hành vi, thêm nút chỉ là lớp giao diện.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7ef2bd178b4d3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0050944d7949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ed5e6ce4d944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464806a75254a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773635a42149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3935ed6b0347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B8CF48-24DF-4555-84B4-7924A914F3F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458BF9A-6EC5-450A-9FB3-C2276FB24A8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4BF14E5-FD18-4CEE-820A-D2B4FC9CFA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B4C919-51DE-4073-9142-227C8AE92E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BA245C-EC3C-418D-98EC-B02D5B2AB34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97BB10D-C338-44B7-B547-FA0C203290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C332DB-F1A0-4589-AB94-D8F2652FC8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617DA4-D989-4030-BA41-CC99A3D261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B168AA-75C2-41DF-8D66-13DA8C2F4F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EB1B48-79F1-440E-AA27-EF6E508AEF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ec9926c9fe4065" /><Relationship Type="http://schemas.openxmlformats.org/officeDocument/2006/relationships/slideLayout" Target="/ppt/slideLayouts/slideLayout1.xml" Id="R5d52376cc3914f2e" /><Relationship Type="http://schemas.openxmlformats.org/officeDocument/2006/relationships/slideLayout" Target="/ppt/slideLayouts/slideLayout2.xml" Id="Ra60f25f5fd614452" /><Relationship Type="http://schemas.openxmlformats.org/officeDocument/2006/relationships/slideLayout" Target="/ppt/slideLayouts/slideLayout3.xml" Id="R59c64db5772b46da" /><Relationship Type="http://schemas.openxmlformats.org/officeDocument/2006/relationships/slideLayout" Target="/ppt/slideLayouts/slideLayout4.xml" Id="Rcbbac8d3271d4219" /><Relationship Type="http://schemas.openxmlformats.org/officeDocument/2006/relationships/slideLayout" Target="/ppt/slideLayouts/slideLayout5.xml" Id="R3949f5b976834acb" /><Relationship Type="http://schemas.openxmlformats.org/officeDocument/2006/relationships/slideLayout" Target="/ppt/slideLayouts/slideLayout6.xml" Id="R0ffc737211c547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52376cc3914f2e"/>
    <p:sldLayoutId xmlns:r="http://schemas.openxmlformats.org/officeDocument/2006/relationships" id="2147483650" r:id="Ra60f25f5fd614452"/>
    <p:sldLayoutId xmlns:r="http://schemas.openxmlformats.org/officeDocument/2006/relationships" id="2147483651" r:id="R59c64db5772b46da"/>
    <p:sldLayoutId xmlns:r="http://schemas.openxmlformats.org/officeDocument/2006/relationships" id="2147483652" r:id="Rcbbac8d3271d4219"/>
    <p:sldLayoutId xmlns:r="http://schemas.openxmlformats.org/officeDocument/2006/relationships" id="2147483653" r:id="R3949f5b976834acb"/>
    <p:sldLayoutId xmlns:r="http://schemas.openxmlformats.org/officeDocument/2006/relationships" id="2147483654" r:id="R0ffc737211c547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cb90419b86d49eb" /><Relationship Type="http://schemas.openxmlformats.org/officeDocument/2006/relationships/notesSlide" Target="/ppt/notesSlides/notesSlide1.xml" Id="R00e1632a71b94a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8fb9354845460b" /><Relationship Type="http://schemas.openxmlformats.org/officeDocument/2006/relationships/notesSlide" Target="/ppt/notesSlides/notesSlide2.xml" Id="R8217678198434f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dc212245324f45" /><Relationship Type="http://schemas.openxmlformats.org/officeDocument/2006/relationships/notesSlide" Target="/ppt/notesSlides/notesSlide3.xml" Id="R212a861d158c47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48f267bb3c44561" /><Relationship Type="http://schemas.openxmlformats.org/officeDocument/2006/relationships/notesSlide" Target="/ppt/notesSlides/notesSlide4.xml" Id="R5729f17dccdb4a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de234186604761" /><Relationship Type="http://schemas.openxmlformats.org/officeDocument/2006/relationships/notesSlide" Target="/ppt/notesSlides/notesSlide5.xml" Id="R3b3ca2a0fbcf41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cedea52cb2441b" /><Relationship Type="http://schemas.openxmlformats.org/officeDocument/2006/relationships/notesSlide" Target="/ppt/notesSlides/notesSlide6.xml" Id="R019ef2d01f5143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8d57400b0ea4bf7" /><Relationship Type="http://schemas.openxmlformats.org/officeDocument/2006/relationships/notesSlide" Target="/ppt/notesSlides/notesSlide7.xml" Id="R5d5b1b841a664b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8d86753936499b" /><Relationship Type="http://schemas.openxmlformats.org/officeDocument/2006/relationships/notesSlide" Target="/ppt/notesSlides/notesSlide8.xml" Id="R844c0b26ebd64f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38b84db2b184e0c" /><Relationship Type="http://schemas.openxmlformats.org/officeDocument/2006/relationships/notesSlide" Target="/ppt/notesSlides/notesSlide9.xml" Id="R699c6ea0b80247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b39b7601ea7422c" /><Relationship Type="http://schemas.openxmlformats.org/officeDocument/2006/relationships/notesSlide" Target="/ppt/notesSlides/notesSlide10.xml" Id="R036fc1d42a194a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c469b0da2b4e0b" /><Relationship Type="http://schemas.openxmlformats.org/officeDocument/2006/relationships/notesSlide" Target="/ppt/notesSlides/notesSlide11.xml" Id="R34fb1fde35964f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61af6dd87240f7" /><Relationship Type="http://schemas.openxmlformats.org/officeDocument/2006/relationships/notesSlide" Target="/ppt/notesSlides/notesSlide12.xml" Id="R2bd3761092cb43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2edab59e0c4470b" /><Relationship Type="http://schemas.openxmlformats.org/officeDocument/2006/relationships/notesSlide" Target="/ppt/notesSlides/notesSlide13.xml" Id="R97391077a8b742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5c145ee8eb45ef" /><Relationship Type="http://schemas.openxmlformats.org/officeDocument/2006/relationships/notesSlide" Target="/ppt/notesSlides/notesSlide14.xml" Id="R051b15b00ae248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dd7e168eb9746e0" /><Relationship Type="http://schemas.openxmlformats.org/officeDocument/2006/relationships/notesSlide" Target="/ppt/notesSlides/notesSlide15.xml" Id="Rba5130b2dcc346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76ba3194d9b45e9" /><Relationship Type="http://schemas.openxmlformats.org/officeDocument/2006/relationships/notesSlide" Target="/ppt/notesSlides/notesSlide16.xml" Id="Rad14a595dfe0422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fdf95ae0c7b4e3c" /><Relationship Type="http://schemas.openxmlformats.org/officeDocument/2006/relationships/notesSlide" Target="/ppt/notesSlides/notesSlide17.xml" Id="Rd8636d7f85ed49c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8dd19e2ac084928" /><Relationship Type="http://schemas.openxmlformats.org/officeDocument/2006/relationships/notesSlide" Target="/ppt/notesSlides/notesSlide18.xml" Id="R3e3161aebe4e41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9a9da564ac84d2b" /><Relationship Type="http://schemas.openxmlformats.org/officeDocument/2006/relationships/notesSlide" Target="/ppt/notesSlides/notesSlide19.xml" Id="Rc98e3d2468084ad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b8f3e1428794e3f" /><Relationship Type="http://schemas.openxmlformats.org/officeDocument/2006/relationships/notesSlide" Target="/ppt/notesSlides/notesSlide20.xml" Id="R3e57ad295217455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B92519-0B95-40B0-94BB-F44C4D8AB0E8}"/>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29E85868-94D5-44F5-9831-9B384FCE7D62}"/>
              </a:ext>
            </a:extLst>
          </p:cNvPr>
          <p:cNvSpPr>
            <a:spLocks xmlns:a="http://schemas.openxmlformats.org/drawingml/2006/main" noGrp="1"/>
          </p:cNvSpPr>
          <p:nvPr/>
        </p:nvSpPr>
        <p:spPr>
          <a:xfrm xmlns:a="http://schemas.openxmlformats.org/drawingml/2006/main">
            <a:off x="571500" y="1666875"/>
            <a:ext cx="11049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0224D"/>
                </a:solidFill>
                <a:latin typeface="Arial"/>
                <a:ea typeface="Arial"/>
                <a:cs typeface="Arial"/>
              </a:defRPr>
            </a:defPPr>
            <a:lvl1pPr>
              <a:defRPr sz="3900" b="1">
                <a:solidFill>
                  <a:srgbClr val="10224D"/>
                </a:solidFill>
                <a:latin typeface="Arial"/>
                <a:ea typeface="Arial"/>
                <a:cs typeface="Arial"/>
              </a:defRPr>
            </a:lvl1pPr>
            <a:lvl2pPr>
              <a:defRPr sz="3900" b="1">
                <a:solidFill>
                  <a:srgbClr val="10224D"/>
                </a:solidFill>
                <a:latin typeface="Arial"/>
                <a:ea typeface="Arial"/>
                <a:cs typeface="Arial"/>
              </a:defRPr>
            </a:lvl2pPr>
            <a:lvl3pPr>
              <a:defRPr sz="3900" b="1">
                <a:solidFill>
                  <a:srgbClr val="10224D"/>
                </a:solidFill>
                <a:latin typeface="Arial"/>
                <a:ea typeface="Arial"/>
                <a:cs typeface="Arial"/>
              </a:defRPr>
            </a:lvl3pPr>
            <a:lvl4pPr>
              <a:defRPr sz="3900" b="1">
                <a:solidFill>
                  <a:srgbClr val="10224D"/>
                </a:solidFill>
                <a:latin typeface="Arial"/>
                <a:ea typeface="Arial"/>
                <a:cs typeface="Arial"/>
              </a:defRPr>
            </a:lvl4pPr>
            <a:lvl5pPr>
              <a:defRPr sz="3900" b="1">
                <a:solidFill>
                  <a:srgbClr val="10224D"/>
                </a:solidFill>
                <a:latin typeface="Arial"/>
                <a:ea typeface="Arial"/>
                <a:cs typeface="Arial"/>
              </a:defRPr>
            </a:lvl5pPr>
            <a:lvl6pPr>
              <a:defRPr sz="3900" b="1">
                <a:solidFill>
                  <a:srgbClr val="10224D"/>
                </a:solidFill>
                <a:latin typeface="Arial"/>
                <a:ea typeface="Arial"/>
                <a:cs typeface="Arial"/>
              </a:defRPr>
            </a:lvl6pPr>
            <a:lvl7pPr>
              <a:defRPr sz="3900" b="1">
                <a:solidFill>
                  <a:srgbClr val="10224D"/>
                </a:solidFill>
                <a:latin typeface="Arial"/>
                <a:ea typeface="Arial"/>
                <a:cs typeface="Arial"/>
              </a:defRPr>
            </a:lvl7pPr>
            <a:lvl8pPr>
              <a:defRPr sz="3900" b="1">
                <a:solidFill>
                  <a:srgbClr val="10224D"/>
                </a:solidFill>
                <a:latin typeface="Arial"/>
                <a:ea typeface="Arial"/>
                <a:cs typeface="Arial"/>
              </a:defRPr>
            </a:lvl8pPr>
            <a:lvl9pPr>
              <a:defRPr sz="3900" b="1">
                <a:solidFill>
                  <a:srgbClr val="10224D"/>
                </a:solidFill>
                <a:latin typeface="Arial"/>
                <a:ea typeface="Arial"/>
                <a:cs typeface="Arial"/>
              </a:defRPr>
            </a:lvl9pPr>
          </a:lstStyle>
          <a:p xmlns:a="http://schemas.openxmlformats.org/drawingml/2006/main">
            <a:pPr>
              <a:defRPr sz="3900" b="1">
                <a:solidFill>
                  <a:srgbClr val="10224D"/>
                </a:solidFill>
                <a:latin typeface="Arial"/>
                <a:ea typeface="Arial"/>
                <a:cs typeface="Arial"/>
              </a:defRPr>
            </a:pPr>
            <a:r>
              <a:rPr sz="3900" b="1">
                <a:solidFill>
                  <a:srgbClr val="10224D"/>
                </a:solidFill>
                <a:latin typeface="Arial"/>
                <a:ea typeface="Arial"/>
                <a:cs typeface="Arial"/>
              </a:rPr>
              <a:t>JETPACK MEDIA3</a:t>
            </a:r>
          </a:p>
          <a:p xmlns:a="http://schemas.openxmlformats.org/drawingml/2006/main">
            <a:pPr>
              <a:defRPr sz="3900" b="1">
                <a:solidFill>
                  <a:srgbClr val="10224D"/>
                </a:solidFill>
                <a:latin typeface="Arial"/>
                <a:ea typeface="Arial"/>
                <a:cs typeface="Arial"/>
              </a:defRPr>
            </a:pPr>
            <a:r>
              <a:rPr sz="3900" b="1">
                <a:solidFill>
                  <a:srgbClr val="10224D"/>
                </a:solidFill>
                <a:latin typeface="Arial"/>
                <a:ea typeface="Arial"/>
                <a:cs typeface="Arial"/>
              </a:rPr>
              <a:t>&amp; PICTURE-IN-PICTURE</a:t>
            </a:r>
          </a:p>
        </p:txBody>
      </p:sp>
      <p:sp>
        <p:nvSpPr>
          <p:cNvPr id="3" name="">
            <a:extLst xmlns:a="http://schemas.openxmlformats.org/drawingml/2006/main">
              <a:ext uri="{FF2B5EF4-FFF2-40B4-BE49-F238E27FC236}">
                <a16:creationId xmlns:a16="http://schemas.microsoft.com/office/drawing/2014/main" id="{7371E09E-0372-4DD2-989B-A8F1D61D5AB8}"/>
              </a:ext>
            </a:extLst>
          </p:cNvPr>
          <p:cNvSpPr>
            <a:spLocks xmlns:a="http://schemas.openxmlformats.org/drawingml/2006/main" noGrp="1"/>
          </p:cNvSpPr>
          <p:nvPr/>
        </p:nvSpPr>
        <p:spPr>
          <a:xfrm xmlns:a="http://schemas.openxmlformats.org/drawingml/2006/main">
            <a:off x="619125" y="3905250"/>
            <a:ext cx="10668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63D61"/>
                </a:solidFill>
                <a:latin typeface="Arial"/>
                <a:ea typeface="Arial"/>
                <a:cs typeface="Arial"/>
              </a:defRPr>
            </a:defPPr>
            <a:lvl1pPr>
              <a:defRPr sz="2100" b="0">
                <a:solidFill>
                  <a:srgbClr val="263D61"/>
                </a:solidFill>
                <a:latin typeface="Arial"/>
                <a:ea typeface="Arial"/>
                <a:cs typeface="Arial"/>
              </a:defRPr>
            </a:lvl1pPr>
            <a:lvl2pPr>
              <a:defRPr sz="2100" b="0">
                <a:solidFill>
                  <a:srgbClr val="263D61"/>
                </a:solidFill>
                <a:latin typeface="Arial"/>
                <a:ea typeface="Arial"/>
                <a:cs typeface="Arial"/>
              </a:defRPr>
            </a:lvl2pPr>
            <a:lvl3pPr>
              <a:defRPr sz="2100" b="0">
                <a:solidFill>
                  <a:srgbClr val="263D61"/>
                </a:solidFill>
                <a:latin typeface="Arial"/>
                <a:ea typeface="Arial"/>
                <a:cs typeface="Arial"/>
              </a:defRPr>
            </a:lvl3pPr>
            <a:lvl4pPr>
              <a:defRPr sz="2100" b="0">
                <a:solidFill>
                  <a:srgbClr val="263D61"/>
                </a:solidFill>
                <a:latin typeface="Arial"/>
                <a:ea typeface="Arial"/>
                <a:cs typeface="Arial"/>
              </a:defRPr>
            </a:lvl4pPr>
            <a:lvl5pPr>
              <a:defRPr sz="2100" b="0">
                <a:solidFill>
                  <a:srgbClr val="263D61"/>
                </a:solidFill>
                <a:latin typeface="Arial"/>
                <a:ea typeface="Arial"/>
                <a:cs typeface="Arial"/>
              </a:defRPr>
            </a:lvl5pPr>
            <a:lvl6pPr>
              <a:defRPr sz="2100" b="0">
                <a:solidFill>
                  <a:srgbClr val="263D61"/>
                </a:solidFill>
                <a:latin typeface="Arial"/>
                <a:ea typeface="Arial"/>
                <a:cs typeface="Arial"/>
              </a:defRPr>
            </a:lvl6pPr>
            <a:lvl7pPr>
              <a:defRPr sz="2100" b="0">
                <a:solidFill>
                  <a:srgbClr val="263D61"/>
                </a:solidFill>
                <a:latin typeface="Arial"/>
                <a:ea typeface="Arial"/>
                <a:cs typeface="Arial"/>
              </a:defRPr>
            </a:lvl7pPr>
            <a:lvl8pPr>
              <a:defRPr sz="2100" b="0">
                <a:solidFill>
                  <a:srgbClr val="263D61"/>
                </a:solidFill>
                <a:latin typeface="Arial"/>
                <a:ea typeface="Arial"/>
                <a:cs typeface="Arial"/>
              </a:defRPr>
            </a:lvl8pPr>
            <a:lvl9pPr>
              <a:defRPr sz="2100" b="0">
                <a:solidFill>
                  <a:srgbClr val="263D61"/>
                </a:solidFill>
                <a:latin typeface="Arial"/>
                <a:ea typeface="Arial"/>
                <a:cs typeface="Arial"/>
              </a:defRPr>
            </a:lvl9pPr>
          </a:lstStyle>
          <a:p xmlns:a="http://schemas.openxmlformats.org/drawingml/2006/main">
            <a:pPr>
              <a:defRPr sz="2100" b="0">
                <a:solidFill>
                  <a:srgbClr val="263D61"/>
                </a:solidFill>
                <a:latin typeface="Arial"/>
                <a:ea typeface="Arial"/>
                <a:cs typeface="Arial"/>
              </a:defRPr>
            </a:pPr>
            <a:r>
              <a:rPr sz="2100" b="0">
                <a:solidFill>
                  <a:srgbClr val="263D61"/>
                </a:solidFill>
                <a:latin typeface="Arial"/>
                <a:ea typeface="Arial"/>
                <a:cs typeface="Arial"/>
              </a:rPr>
              <a:t>Trình phát video Android với Java + XML</a:t>
            </a:r>
          </a:p>
          <a:p xmlns:a="http://schemas.openxmlformats.org/drawingml/2006/main">
            <a:pPr>
              <a:defRPr sz="2100" b="0">
                <a:solidFill>
                  <a:srgbClr val="263D61"/>
                </a:solidFill>
                <a:latin typeface="Arial"/>
                <a:ea typeface="Arial"/>
                <a:cs typeface="Arial"/>
              </a:defRPr>
            </a:pPr>
            <a:r>
              <a:rPr sz="2100" b="0">
                <a:solidFill>
                  <a:srgbClr val="263D61"/>
                </a:solidFill>
                <a:latin typeface="Arial"/>
                <a:ea typeface="Arial"/>
                <a:cs typeface="Arial"/>
              </a:rPr>
              <a:t>Midterm research &amp; showcase</a:t>
            </a:r>
          </a:p>
        </p:txBody>
      </p:sp>
      <p:sp>
        <p:nvSpPr>
          <p:cNvPr id="4" name="">
            <a:extLst xmlns:a="http://schemas.openxmlformats.org/drawingml/2006/main">
              <a:ext uri="{FF2B5EF4-FFF2-40B4-BE49-F238E27FC236}">
                <a16:creationId xmlns:a16="http://schemas.microsoft.com/office/drawing/2014/main" id="{7D923E84-6539-4414-9870-2F528AB65638}"/>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01</a:t>
            </a:r>
          </a:p>
        </p:txBody>
      </p:sp>
    </p:spTree>
    <p:extLst>
      <p:ext uri="{BB962C8B-B14F-4D97-AF65-F5344CB8AC3E}">
        <p14:creationId xmlns:p14="http://schemas.microsoft.com/office/powerpoint/2010/main" val="3395391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8794DA-3EF4-4CCD-83C7-B2432CF1C6C3}"/>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A9551C26-1102-4F09-BFF4-E840736DCC23}"/>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Nội dung nghiên cứu</a:t>
            </a:r>
          </a:p>
        </p:txBody>
      </p:sp>
      <p:sp>
        <p:nvSpPr>
          <p:cNvPr id="3" name="">
            <a:extLst xmlns:a="http://schemas.openxmlformats.org/drawingml/2006/main">
              <a:ext uri="{FF2B5EF4-FFF2-40B4-BE49-F238E27FC236}">
                <a16:creationId xmlns:a16="http://schemas.microsoft.com/office/drawing/2014/main" id="{491EF3DD-0D50-49BB-84CF-05B0480A035D}"/>
              </a:ext>
            </a:extLst>
          </p:cNvPr>
          <p:cNvSpPr>
            <a:spLocks xmlns:a="http://schemas.openxmlformats.org/drawingml/2006/main" noGrp="1"/>
          </p:cNvSpPr>
          <p:nvPr/>
        </p:nvSpPr>
        <p:spPr>
          <a:xfrm xmlns:a="http://schemas.openxmlformats.org/drawingml/2006/main">
            <a:off x="619125" y="2143125"/>
            <a:ext cx="10668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D61"/>
                </a:solidFill>
                <a:latin typeface="Arial"/>
                <a:ea typeface="Arial"/>
                <a:cs typeface="Arial"/>
              </a:defRPr>
            </a:defPPr>
            <a:lvl1pPr>
              <a:defRPr sz="2250" b="0">
                <a:solidFill>
                  <a:srgbClr val="263D61"/>
                </a:solidFill>
                <a:latin typeface="Arial"/>
                <a:ea typeface="Arial"/>
                <a:cs typeface="Arial"/>
              </a:defRPr>
            </a:lvl1pPr>
            <a:lvl2pPr>
              <a:defRPr sz="2250" b="0">
                <a:solidFill>
                  <a:srgbClr val="263D61"/>
                </a:solidFill>
                <a:latin typeface="Arial"/>
                <a:ea typeface="Arial"/>
                <a:cs typeface="Arial"/>
              </a:defRPr>
            </a:lvl2pPr>
            <a:lvl3pPr>
              <a:defRPr sz="2250" b="0">
                <a:solidFill>
                  <a:srgbClr val="263D61"/>
                </a:solidFill>
                <a:latin typeface="Arial"/>
                <a:ea typeface="Arial"/>
                <a:cs typeface="Arial"/>
              </a:defRPr>
            </a:lvl3pPr>
            <a:lvl4pPr>
              <a:defRPr sz="2250" b="0">
                <a:solidFill>
                  <a:srgbClr val="263D61"/>
                </a:solidFill>
                <a:latin typeface="Arial"/>
                <a:ea typeface="Arial"/>
                <a:cs typeface="Arial"/>
              </a:defRPr>
            </a:lvl4pPr>
            <a:lvl5pPr>
              <a:defRPr sz="2250" b="0">
                <a:solidFill>
                  <a:srgbClr val="263D61"/>
                </a:solidFill>
                <a:latin typeface="Arial"/>
                <a:ea typeface="Arial"/>
                <a:cs typeface="Arial"/>
              </a:defRPr>
            </a:lvl5pPr>
            <a:lvl6pPr>
              <a:defRPr sz="2250" b="0">
                <a:solidFill>
                  <a:srgbClr val="263D61"/>
                </a:solidFill>
                <a:latin typeface="Arial"/>
                <a:ea typeface="Arial"/>
                <a:cs typeface="Arial"/>
              </a:defRPr>
            </a:lvl6pPr>
            <a:lvl7pPr>
              <a:defRPr sz="2250" b="0">
                <a:solidFill>
                  <a:srgbClr val="263D61"/>
                </a:solidFill>
                <a:latin typeface="Arial"/>
                <a:ea typeface="Arial"/>
                <a:cs typeface="Arial"/>
              </a:defRPr>
            </a:lvl7pPr>
            <a:lvl8pPr>
              <a:defRPr sz="2250" b="0">
                <a:solidFill>
                  <a:srgbClr val="263D61"/>
                </a:solidFill>
                <a:latin typeface="Arial"/>
                <a:ea typeface="Arial"/>
                <a:cs typeface="Arial"/>
              </a:defRPr>
            </a:lvl8pPr>
            <a:lvl9pPr>
              <a:defRPr sz="2250" b="0">
                <a:solidFill>
                  <a:srgbClr val="263D61"/>
                </a:solidFill>
                <a:latin typeface="Arial"/>
                <a:ea typeface="Arial"/>
                <a:cs typeface="Arial"/>
              </a:defRPr>
            </a:lvl9pPr>
          </a:lstStyle>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Media3 gồm những thành phần nào?</a:t>
            </a:r>
          </a:p>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Vì sao chọn Media3 thay cho VideoView?</a:t>
            </a:r>
          </a:p>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Cách điều khiển video, chất lượng và các track</a:t>
            </a:r>
          </a:p>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PiP và vòng đời của player</a:t>
            </a:r>
          </a:p>
        </p:txBody>
      </p:sp>
      <p:sp>
        <p:nvSpPr>
          <p:cNvPr id="4" name="">
            <a:extLst xmlns:a="http://schemas.openxmlformats.org/drawingml/2006/main">
              <a:ext uri="{FF2B5EF4-FFF2-40B4-BE49-F238E27FC236}">
                <a16:creationId xmlns:a16="http://schemas.microsoft.com/office/drawing/2014/main" id="{A9DD4EF7-070F-4E8E-B7F8-FC94054F0C54}"/>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02</a:t>
            </a:r>
          </a:p>
        </p:txBody>
      </p:sp>
    </p:spTree>
    <p:extLst>
      <p:ext uri="{BB962C8B-B14F-4D97-AF65-F5344CB8AC3E}">
        <p14:creationId xmlns:p14="http://schemas.microsoft.com/office/powerpoint/2010/main" val="12436138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401CB3-3C07-4C58-8CC0-1939147829C5}"/>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638BDB14-E364-48BF-8B43-A95D583E7299}"/>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Media3 và vai trò từng thành phần</a:t>
            </a:r>
          </a:p>
        </p:txBody>
      </p:sp>
      <p:sp>
        <p:nvSpPr>
          <p:cNvPr id="3" name="">
            <a:extLst xmlns:a="http://schemas.openxmlformats.org/drawingml/2006/main">
              <a:ext uri="{FF2B5EF4-FFF2-40B4-BE49-F238E27FC236}">
                <a16:creationId xmlns:a16="http://schemas.microsoft.com/office/drawing/2014/main" id="{E100887B-FC12-4136-BD2A-543C83F1B23F}"/>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MediaItem item = MediaItem.fromUri(videoUrl);</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ExoPlayer player = new ExoPlayer.Builder(this).build();</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playerView.setPlayer(player);</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MediaSession session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new MediaSession.Builder(this, player).build();</a:t>
            </a:r>
          </a:p>
        </p:txBody>
      </p:sp>
      <p:sp>
        <p:nvSpPr>
          <p:cNvPr id="4" name="">
            <a:extLst xmlns:a="http://schemas.openxmlformats.org/drawingml/2006/main">
              <a:ext uri="{FF2B5EF4-FFF2-40B4-BE49-F238E27FC236}">
                <a16:creationId xmlns:a16="http://schemas.microsoft.com/office/drawing/2014/main" id="{A7444920-8403-458E-A1C8-9163E8E34034}"/>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MediaItem: mô tả nội dung cần phát</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ExoPlayer: tải, đệm và điều phối phát</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PlayerView: hiển thị hình và controller</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MediaSession: kết nối điều khiển với hệ thống</a:t>
            </a:r>
          </a:p>
        </p:txBody>
      </p:sp>
      <p:sp>
        <p:nvSpPr>
          <p:cNvPr id="5" name="">
            <a:extLst xmlns:a="http://schemas.openxmlformats.org/drawingml/2006/main">
              <a:ext uri="{FF2B5EF4-FFF2-40B4-BE49-F238E27FC236}">
                <a16:creationId xmlns:a16="http://schemas.microsoft.com/office/drawing/2014/main" id="{33711ADB-C98E-4160-B374-C0952CAF96AA}"/>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03</a:t>
            </a:r>
          </a:p>
        </p:txBody>
      </p:sp>
    </p:spTree>
    <p:extLst>
      <p:ext uri="{BB962C8B-B14F-4D97-AF65-F5344CB8AC3E}">
        <p14:creationId xmlns:p14="http://schemas.microsoft.com/office/powerpoint/2010/main" val="6482582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C08190-BB2F-4F49-9139-1276C562FEF5}"/>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4678773A-1D0C-4C92-A21B-80079CA48031}"/>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VideoView và Media3</a:t>
            </a:r>
          </a:p>
        </p:txBody>
      </p:sp>
      <p:sp>
        <p:nvSpPr>
          <p:cNvPr id="3" name="">
            <a:extLst xmlns:a="http://schemas.openxmlformats.org/drawingml/2006/main">
              <a:ext uri="{FF2B5EF4-FFF2-40B4-BE49-F238E27FC236}">
                <a16:creationId xmlns:a16="http://schemas.microsoft.com/office/drawing/2014/main" id="{92D93252-03F3-4E0E-9EE5-751C20EDD2EB}"/>
              </a:ext>
            </a:extLst>
          </p:cNvPr>
          <p:cNvSpPr>
            <a:spLocks xmlns:a="http://schemas.openxmlformats.org/drawingml/2006/main" noGrp="1"/>
          </p:cNvSpPr>
          <p:nvPr/>
        </p:nvSpPr>
        <p:spPr>
          <a:xfrm xmlns:a="http://schemas.openxmlformats.org/drawingml/2006/main">
            <a:off x="619125" y="2143125"/>
            <a:ext cx="10668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D61"/>
                </a:solidFill>
                <a:latin typeface="Arial"/>
                <a:ea typeface="Arial"/>
                <a:cs typeface="Arial"/>
              </a:defRPr>
            </a:defPPr>
            <a:lvl1pPr>
              <a:defRPr sz="2250" b="0">
                <a:solidFill>
                  <a:srgbClr val="263D61"/>
                </a:solidFill>
                <a:latin typeface="Arial"/>
                <a:ea typeface="Arial"/>
                <a:cs typeface="Arial"/>
              </a:defRPr>
            </a:lvl1pPr>
            <a:lvl2pPr>
              <a:defRPr sz="2250" b="0">
                <a:solidFill>
                  <a:srgbClr val="263D61"/>
                </a:solidFill>
                <a:latin typeface="Arial"/>
                <a:ea typeface="Arial"/>
                <a:cs typeface="Arial"/>
              </a:defRPr>
            </a:lvl2pPr>
            <a:lvl3pPr>
              <a:defRPr sz="2250" b="0">
                <a:solidFill>
                  <a:srgbClr val="263D61"/>
                </a:solidFill>
                <a:latin typeface="Arial"/>
                <a:ea typeface="Arial"/>
                <a:cs typeface="Arial"/>
              </a:defRPr>
            </a:lvl3pPr>
            <a:lvl4pPr>
              <a:defRPr sz="2250" b="0">
                <a:solidFill>
                  <a:srgbClr val="263D61"/>
                </a:solidFill>
                <a:latin typeface="Arial"/>
                <a:ea typeface="Arial"/>
                <a:cs typeface="Arial"/>
              </a:defRPr>
            </a:lvl4pPr>
            <a:lvl5pPr>
              <a:defRPr sz="2250" b="0">
                <a:solidFill>
                  <a:srgbClr val="263D61"/>
                </a:solidFill>
                <a:latin typeface="Arial"/>
                <a:ea typeface="Arial"/>
                <a:cs typeface="Arial"/>
              </a:defRPr>
            </a:lvl5pPr>
            <a:lvl6pPr>
              <a:defRPr sz="2250" b="0">
                <a:solidFill>
                  <a:srgbClr val="263D61"/>
                </a:solidFill>
                <a:latin typeface="Arial"/>
                <a:ea typeface="Arial"/>
                <a:cs typeface="Arial"/>
              </a:defRPr>
            </a:lvl6pPr>
            <a:lvl7pPr>
              <a:defRPr sz="2250" b="0">
                <a:solidFill>
                  <a:srgbClr val="263D61"/>
                </a:solidFill>
                <a:latin typeface="Arial"/>
                <a:ea typeface="Arial"/>
                <a:cs typeface="Arial"/>
              </a:defRPr>
            </a:lvl7pPr>
            <a:lvl8pPr>
              <a:defRPr sz="2250" b="0">
                <a:solidFill>
                  <a:srgbClr val="263D61"/>
                </a:solidFill>
                <a:latin typeface="Arial"/>
                <a:ea typeface="Arial"/>
                <a:cs typeface="Arial"/>
              </a:defRPr>
            </a:lvl8pPr>
            <a:lvl9pPr>
              <a:defRPr sz="2250" b="0">
                <a:solidFill>
                  <a:srgbClr val="263D61"/>
                </a:solidFill>
                <a:latin typeface="Arial"/>
                <a:ea typeface="Arial"/>
                <a:cs typeface="Arial"/>
              </a:defRPr>
            </a:lvl9pPr>
          </a:lstStyle>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VideoView phù hợp với phát video cơ bản</a:t>
            </a:r>
          </a:p>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Media3 có API rõ cho chọn track và nguồn ghép</a:t>
            </a:r>
          </a:p>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Media3 cho phép cấu hình LoadControl và renderer</a:t>
            </a:r>
          </a:p>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Cả hai đều có thể kết hợp với PiP của Android</a:t>
            </a:r>
          </a:p>
        </p:txBody>
      </p:sp>
      <p:sp>
        <p:nvSpPr>
          <p:cNvPr id="4" name="">
            <a:extLst xmlns:a="http://schemas.openxmlformats.org/drawingml/2006/main">
              <a:ext uri="{FF2B5EF4-FFF2-40B4-BE49-F238E27FC236}">
                <a16:creationId xmlns:a16="http://schemas.microsoft.com/office/drawing/2014/main" id="{5DC6AF9B-CBB0-4B36-8DCD-65D966DE195E}"/>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04</a:t>
            </a:r>
          </a:p>
        </p:txBody>
      </p:sp>
    </p:spTree>
    <p:extLst>
      <p:ext uri="{BB962C8B-B14F-4D97-AF65-F5344CB8AC3E}">
        <p14:creationId xmlns:p14="http://schemas.microsoft.com/office/powerpoint/2010/main" val="7482031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D4163D-DC18-4927-97E0-B58330179C0D}"/>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0141193F-DA17-4378-8A8E-F2AD85FC9D09}"/>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Khởi tạo và nạp video</a:t>
            </a:r>
          </a:p>
        </p:txBody>
      </p:sp>
      <p:sp>
        <p:nvSpPr>
          <p:cNvPr id="3" name="">
            <a:extLst xmlns:a="http://schemas.openxmlformats.org/drawingml/2006/main">
              <a:ext uri="{FF2B5EF4-FFF2-40B4-BE49-F238E27FC236}">
                <a16:creationId xmlns:a16="http://schemas.microsoft.com/office/drawing/2014/main" id="{C97A5A3C-0510-461C-833E-F683FF18BA67}"/>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AndroidManifest.xml: quyền cho nguồn online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&lt;uses-permission android:name="android.permission.INTERNET" /&gt;</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Trong Activity, sau khi ánh xạ playerView</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 = new ExoPlayer.Builder(this).build();</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playerView.setPlayer(player);</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player.setMediaItem(MediaItem.fromUri(videoUrl));</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player.prepare();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player.play();</a:t>
            </a:r>
          </a:p>
        </p:txBody>
      </p:sp>
      <p:sp>
        <p:nvSpPr>
          <p:cNvPr id="4" name="">
            <a:extLst xmlns:a="http://schemas.openxmlformats.org/drawingml/2006/main">
              <a:ext uri="{FF2B5EF4-FFF2-40B4-BE49-F238E27FC236}">
                <a16:creationId xmlns:a16="http://schemas.microsoft.com/office/drawing/2014/main" id="{B1902372-BBB1-4160-8591-3D0491AC7844}"/>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setMediaItem(): đặt nội dung</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prepare(): chuẩn bị nguồn và dữ liệu</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play(): yêu cầu phát khi đủ điều kiện</a:t>
            </a:r>
          </a:p>
        </p:txBody>
      </p:sp>
      <p:sp>
        <p:nvSpPr>
          <p:cNvPr id="5" name="">
            <a:extLst xmlns:a="http://schemas.openxmlformats.org/drawingml/2006/main">
              <a:ext uri="{FF2B5EF4-FFF2-40B4-BE49-F238E27FC236}">
                <a16:creationId xmlns:a16="http://schemas.microsoft.com/office/drawing/2014/main" id="{0D93D08E-D8EB-416F-A37A-E1665E8F63DE}"/>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05</a:t>
            </a:r>
          </a:p>
        </p:txBody>
      </p:sp>
    </p:spTree>
    <p:extLst>
      <p:ext uri="{BB962C8B-B14F-4D97-AF65-F5344CB8AC3E}">
        <p14:creationId xmlns:p14="http://schemas.microsoft.com/office/powerpoint/2010/main" val="5310807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8FE692-BDFA-43BC-8EC4-A476E8A2006A}"/>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AAFAF384-5A04-430B-AA41-43D1B7257829}"/>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Buffer là dữ liệu đã tải trước</a:t>
            </a:r>
          </a:p>
        </p:txBody>
      </p:sp>
      <p:sp>
        <p:nvSpPr>
          <p:cNvPr id="3" name="">
            <a:extLst xmlns:a="http://schemas.openxmlformats.org/drawingml/2006/main">
              <a:ext uri="{FF2B5EF4-FFF2-40B4-BE49-F238E27FC236}">
                <a16:creationId xmlns:a16="http://schemas.microsoft.com/office/drawing/2014/main" id="{511FAB12-6F99-48D7-9167-92F003B9EA5C}"/>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DefaultLoadControl loadControl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new DefaultLoadControl.Builder()</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.setBufferDurationsMs(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15000, // minBufferMs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30000, // maxBufferMs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1500,  // bufferForPlaybackMs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3000   // sau rebuffer</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.setPrioritizeTimeOverSizeThresholds(true)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.build();</a:t>
            </a:r>
          </a:p>
        </p:txBody>
      </p:sp>
      <p:sp>
        <p:nvSpPr>
          <p:cNvPr id="4" name="">
            <a:extLst xmlns:a="http://schemas.openxmlformats.org/drawingml/2006/main">
              <a:ext uri="{FF2B5EF4-FFF2-40B4-BE49-F238E27FC236}">
                <a16:creationId xmlns:a16="http://schemas.microsoft.com/office/drawing/2014/main" id="{1F7BD9EE-49E8-4476-B3C1-45584167FA14}"/>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Đang xem giây 40, đã tải đến giây 60:</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còn khoảng 20 giây dữ liệu phía trước</a:t>
            </a:r>
          </a:p>
          <a:p xmlns:a="http://schemas.openxmlformats.org/drawingml/2006/main">
            <a:r>
              <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Hết dữ liệu mà mạng chưa tải kịp:</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player dừng chờ, gọi là buffering</a:t>
            </a:r>
          </a:p>
        </p:txBody>
      </p:sp>
      <p:sp>
        <p:nvSpPr>
          <p:cNvPr id="5" name="">
            <a:extLst xmlns:a="http://schemas.openxmlformats.org/drawingml/2006/main">
              <a:ext uri="{FF2B5EF4-FFF2-40B4-BE49-F238E27FC236}">
                <a16:creationId xmlns:a16="http://schemas.microsoft.com/office/drawing/2014/main" id="{AC7FC62D-D31F-4D45-9C5B-D598136BE100}"/>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06</a:t>
            </a:r>
          </a:p>
        </p:txBody>
      </p:sp>
    </p:spTree>
    <p:extLst>
      <p:ext uri="{BB962C8B-B14F-4D97-AF65-F5344CB8AC3E}">
        <p14:creationId xmlns:p14="http://schemas.microsoft.com/office/powerpoint/2010/main" val="20521504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7AC657-684F-4BEA-BBC9-45E575A42464}"/>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F83AB328-F328-4EC9-8944-3A3D6A53B3BC}"/>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Áp dụng buffer, tua và decoder</a:t>
            </a:r>
          </a:p>
        </p:txBody>
      </p:sp>
      <p:sp>
        <p:nvSpPr>
          <p:cNvPr id="3" name="">
            <a:extLst xmlns:a="http://schemas.openxmlformats.org/drawingml/2006/main">
              <a:ext uri="{FF2B5EF4-FFF2-40B4-BE49-F238E27FC236}">
                <a16:creationId xmlns:a16="http://schemas.microsoft.com/office/drawing/2014/main" id="{4DE7248B-B175-4E6B-8377-5876A99D23F7}"/>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DefaultRenderersFactory renderers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new DefaultRenderersFactory(this)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.setEnableDecoderFallback(true);</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 = new ExoPlayer.Builder(this)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.setLoadControl(loadControl)</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.setRenderersFactory(renderers)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.setSeekBackIncrementMs(10000)</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.setSeekForwardIncrementMs(10000)</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.build();</a:t>
            </a:r>
          </a:p>
        </p:txBody>
      </p:sp>
      <p:sp>
        <p:nvSpPr>
          <p:cNvPr id="4" name="">
            <a:extLst xmlns:a="http://schemas.openxmlformats.org/drawingml/2006/main">
              <a:ext uri="{FF2B5EF4-FFF2-40B4-BE49-F238E27FC236}">
                <a16:creationId xmlns:a16="http://schemas.microsoft.com/office/drawing/2014/main" id="{EE41AF94-840B-4E5D-AF1E-F6E919F3732B}"/>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setLoadControl(): gắn cấu hình vừa tạo</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10000 ms: mỗi lần tua nhảy 10 giây</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Fallback: thử decoder khác nếu khởi tạo lỗi</a:t>
            </a:r>
          </a:p>
        </p:txBody>
      </p:sp>
      <p:sp>
        <p:nvSpPr>
          <p:cNvPr id="5" name="">
            <a:extLst xmlns:a="http://schemas.openxmlformats.org/drawingml/2006/main">
              <a:ext uri="{FF2B5EF4-FFF2-40B4-BE49-F238E27FC236}">
                <a16:creationId xmlns:a16="http://schemas.microsoft.com/office/drawing/2014/main" id="{337ED7EC-489D-4E50-B4EF-7845F7BEF7DF}"/>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07</a:t>
            </a:r>
          </a:p>
        </p:txBody>
      </p:sp>
    </p:spTree>
    <p:extLst>
      <p:ext uri="{BB962C8B-B14F-4D97-AF65-F5344CB8AC3E}">
        <p14:creationId xmlns:p14="http://schemas.microsoft.com/office/powerpoint/2010/main" val="19854026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3D0470-478B-4D99-A3CB-9B00C02469C7}"/>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7C78E70B-B4E8-47DF-867B-A45E865DEF97}"/>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Tốc độ phát: từ menu tới player</a:t>
            </a:r>
          </a:p>
        </p:txBody>
      </p:sp>
      <p:sp>
        <p:nvSpPr>
          <p:cNvPr id="3" name="">
            <a:extLst xmlns:a="http://schemas.openxmlformats.org/drawingml/2006/main">
              <a:ext uri="{FF2B5EF4-FFF2-40B4-BE49-F238E27FC236}">
                <a16:creationId xmlns:a16="http://schemas.microsoft.com/office/drawing/2014/main" id="{75933256-AD46-4F29-A332-5D889AE39DCD}"/>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String[] labels = {"0.5x", "0.75x", "1x", "1.5x", "2x"};</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float[] values = {0.5f, 0.75f, 1f, 1.5f, 2f};</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new AlertDialog.Builder(this)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.setTitle("Tốc độ phát")</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.setItems(labels, (dialog, which) -&gt;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float speed = values[which];</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player.setPlaybackParameters(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new PlaybackParameters(speed));</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.show();</a:t>
            </a:r>
          </a:p>
        </p:txBody>
      </p:sp>
      <p:sp>
        <p:nvSpPr>
          <p:cNvPr id="4" name="">
            <a:extLst xmlns:a="http://schemas.openxmlformats.org/drawingml/2006/main">
              <a:ext uri="{FF2B5EF4-FFF2-40B4-BE49-F238E27FC236}">
                <a16:creationId xmlns:a16="http://schemas.microsoft.com/office/drawing/2014/main" id="{EE9E09F0-6360-4436-8FF1-3C24D17033F7}"/>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Chọn 2x: which = 4, speed = 2f</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20 giây nội dung mất khoảng 10 giây</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0.5x: cùng đoạn đó mất khoảng 40 giây</a:t>
            </a:r>
          </a:p>
        </p:txBody>
      </p:sp>
      <p:sp>
        <p:nvSpPr>
          <p:cNvPr id="5" name="">
            <a:extLst xmlns:a="http://schemas.openxmlformats.org/drawingml/2006/main">
              <a:ext uri="{FF2B5EF4-FFF2-40B4-BE49-F238E27FC236}">
                <a16:creationId xmlns:a16="http://schemas.microsoft.com/office/drawing/2014/main" id="{4B009030-FE2F-4A3B-8455-D8157C9136F6}"/>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08</a:t>
            </a:r>
          </a:p>
        </p:txBody>
      </p:sp>
    </p:spTree>
    <p:extLst>
      <p:ext uri="{BB962C8B-B14F-4D97-AF65-F5344CB8AC3E}">
        <p14:creationId xmlns:p14="http://schemas.microsoft.com/office/powerpoint/2010/main" val="10674107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FA4130-489F-4547-942E-19B786908E04}"/>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1B095D18-D904-4F08-BD92-D8D5D5C00A0B}"/>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Âm lượng và nút tắt tiếng</a:t>
            </a:r>
          </a:p>
        </p:txBody>
      </p:sp>
      <p:sp>
        <p:nvSpPr>
          <p:cNvPr id="3" name="">
            <a:extLst xmlns:a="http://schemas.openxmlformats.org/drawingml/2006/main">
              <a:ext uri="{FF2B5EF4-FFF2-40B4-BE49-F238E27FC236}">
                <a16:creationId xmlns:a16="http://schemas.microsoft.com/office/drawing/2014/main" id="{EF5A12EC-F1E6-4341-9F7C-035B648C6006}"/>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Khi người dùng kéo SeekBar có max = 100</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float volume = progress / 100f;</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player.setVolume(volume);</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Khi bấm Mute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lastNonZeroVolume = player.getVolume();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player.setVolume(0f);</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Khi bật tiếng lại</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player.setVolume(lastNonZeroVolume);</a:t>
            </a:r>
          </a:p>
        </p:txBody>
      </p:sp>
      <p:sp>
        <p:nvSpPr>
          <p:cNvPr id="4" name="">
            <a:extLst xmlns:a="http://schemas.openxmlformats.org/drawingml/2006/main">
              <a:ext uri="{FF2B5EF4-FFF2-40B4-BE49-F238E27FC236}">
                <a16:creationId xmlns:a16="http://schemas.microsoft.com/office/drawing/2014/main" id="{84BC7E43-A3D4-467B-9207-F92819A26F7F}"/>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Thanh kéo 50 tương ứng volume = 0.5</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0 là im tiếng, 1 là mức gốc của player</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Bật tiếng lại giữ mức trước khi tắt</a:t>
            </a:r>
          </a:p>
        </p:txBody>
      </p:sp>
      <p:sp>
        <p:nvSpPr>
          <p:cNvPr id="5" name="">
            <a:extLst xmlns:a="http://schemas.openxmlformats.org/drawingml/2006/main">
              <a:ext uri="{FF2B5EF4-FFF2-40B4-BE49-F238E27FC236}">
                <a16:creationId xmlns:a16="http://schemas.microsoft.com/office/drawing/2014/main" id="{8AD5B349-8C63-47F8-A59A-F6BDA108B508}"/>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09</a:t>
            </a:r>
          </a:p>
        </p:txBody>
      </p:sp>
    </p:spTree>
    <p:extLst>
      <p:ext uri="{BB962C8B-B14F-4D97-AF65-F5344CB8AC3E}">
        <p14:creationId xmlns:p14="http://schemas.microsoft.com/office/powerpoint/2010/main" val="20539984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CE0FC4-95A0-4BAE-8617-CDCC5E59916F}"/>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8331971D-D8C6-4F7F-BCB2-17BBC5EB7A5D}"/>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Nguồn phải có nhiều mức chất lượng</a:t>
            </a:r>
          </a:p>
        </p:txBody>
      </p:sp>
      <p:sp>
        <p:nvSpPr>
          <p:cNvPr id="3" name="">
            <a:extLst xmlns:a="http://schemas.openxmlformats.org/drawingml/2006/main">
              <a:ext uri="{FF2B5EF4-FFF2-40B4-BE49-F238E27FC236}">
                <a16:creationId xmlns:a16="http://schemas.microsoft.com/office/drawing/2014/main" id="{D8276EFA-3282-47C4-AB42-98AFBECF6FC8}"/>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for (Tracks.Group group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player.getCurrentTracks().getGroups())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if (group.getType() != C.TRACK_TYPE_VIDEO) continue;</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for (int i = 0; i &lt; group.length; i++)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if (!group.isTrackSupported(i)) continue;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int height = group.getTrackFormat(i).height;</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 Giữ group và i để tạo mục menu tương ứng</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a:t>
            </a:r>
          </a:p>
        </p:txBody>
      </p:sp>
      <p:sp>
        <p:nvSpPr>
          <p:cNvPr id="4" name="">
            <a:extLst xmlns:a="http://schemas.openxmlformats.org/drawingml/2006/main">
              <a:ext uri="{FF2B5EF4-FFF2-40B4-BE49-F238E27FC236}">
                <a16:creationId xmlns:a16="http://schemas.microsoft.com/office/drawing/2014/main" id="{44DC6B86-2242-4515-B72B-EC15DB42A9FF}"/>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Ví dụ: track 0 = 360p, track 1 = 720p</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height là chiều cao, i là vị trí track</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MP4 chỉ có một mức thì không tự có 1080p</a:t>
            </a:r>
          </a:p>
        </p:txBody>
      </p:sp>
      <p:sp>
        <p:nvSpPr>
          <p:cNvPr id="5" name="">
            <a:extLst xmlns:a="http://schemas.openxmlformats.org/drawingml/2006/main">
              <a:ext uri="{FF2B5EF4-FFF2-40B4-BE49-F238E27FC236}">
                <a16:creationId xmlns:a16="http://schemas.microsoft.com/office/drawing/2014/main" id="{761FC4EA-5CBF-455C-B37B-A404A3CBB5DF}"/>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10</a:t>
            </a:r>
          </a:p>
        </p:txBody>
      </p:sp>
    </p:spTree>
    <p:extLst>
      <p:ext uri="{BB962C8B-B14F-4D97-AF65-F5344CB8AC3E}">
        <p14:creationId xmlns:p14="http://schemas.microsoft.com/office/powerpoint/2010/main" val="8125544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DFFA48-BD38-4328-8972-1090CB420733}"/>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749E80C5-AEC0-4420-B670-2D3476F64BC7}"/>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Chọn 720p và trở lại Auto</a:t>
            </a:r>
          </a:p>
        </p:txBody>
      </p:sp>
      <p:sp>
        <p:nvSpPr>
          <p:cNvPr id="3" name="">
            <a:extLst xmlns:a="http://schemas.openxmlformats.org/drawingml/2006/main">
              <a:ext uri="{FF2B5EF4-FFF2-40B4-BE49-F238E27FC236}">
                <a16:creationId xmlns:a16="http://schemas.microsoft.com/office/drawing/2014/main" id="{E8A48510-EC1E-4F8F-A86C-BF8169863710}"/>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Chọn track 720p đã tìm được: group + trackIndex</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TrackSelectionOverride fixed = new TrackSelectionOverride(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group.getMediaTrackGroup(), trackIndex);</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player.setTrackSelectionParameters(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player.getTrackSelectionParameters().buildUpon()</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.clearOverridesOfType(C.TRACK_TYPE_VIDEO)</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.setOverrideForType(fixed).build());</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Khi chọn Auto: bỏ override cố định</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player.setTrackSelectionParameters(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player.getTrackSelectionParameters().buildUpon()</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.clearOverridesOfType(C.TRACK_TYPE_VIDEO).build());</a:t>
            </a:r>
          </a:p>
        </p:txBody>
      </p:sp>
      <p:sp>
        <p:nvSpPr>
          <p:cNvPr id="4" name="">
            <a:extLst xmlns:a="http://schemas.openxmlformats.org/drawingml/2006/main">
              <a:ext uri="{FF2B5EF4-FFF2-40B4-BE49-F238E27FC236}">
                <a16:creationId xmlns:a16="http://schemas.microsoft.com/office/drawing/2014/main" id="{1B78E5EC-581B-4857-B93D-920E2DC2B46C}"/>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720p: yêu cầu chọn một track cụ thể</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Auto: để player tự chọn track phù hợp</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Dữ liệu cũ trong buffer có thể chưa đổi ngay</a:t>
            </a:r>
          </a:p>
        </p:txBody>
      </p:sp>
      <p:sp>
        <p:nvSpPr>
          <p:cNvPr id="5" name="">
            <a:extLst xmlns:a="http://schemas.openxmlformats.org/drawingml/2006/main">
              <a:ext uri="{FF2B5EF4-FFF2-40B4-BE49-F238E27FC236}">
                <a16:creationId xmlns:a16="http://schemas.microsoft.com/office/drawing/2014/main" id="{760B6F46-E6B3-4442-8E81-FAB19538B3E5}"/>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11</a:t>
            </a:r>
          </a:p>
        </p:txBody>
      </p:sp>
    </p:spTree>
    <p:extLst>
      <p:ext uri="{BB962C8B-B14F-4D97-AF65-F5344CB8AC3E}">
        <p14:creationId xmlns:p14="http://schemas.microsoft.com/office/powerpoint/2010/main" val="15237529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E5A7F1-DD91-4E92-AE7F-4A20BE46843B}"/>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0D303251-3D97-46BE-A32F-269D023A2843}"/>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Gắn file phụ đề vào video</a:t>
            </a:r>
          </a:p>
        </p:txBody>
      </p:sp>
      <p:sp>
        <p:nvSpPr>
          <p:cNvPr id="3" name="">
            <a:extLst xmlns:a="http://schemas.openxmlformats.org/drawingml/2006/main">
              <a:ext uri="{FF2B5EF4-FFF2-40B4-BE49-F238E27FC236}">
                <a16:creationId xmlns:a16="http://schemas.microsoft.com/office/drawing/2014/main" id="{A1593A6E-F167-4EC9-9AEC-799EFC1E6801}"/>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MediaItem.SubtitleConfiguration sub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new MediaItem.SubtitleConfiguration.Builder(subUri)</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.setMimeType(MimeTypes.TEXT_VTT)</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.setLanguage("vi")</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.setLabel("Tiếng Việt")</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.build();</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MediaItem item = new MediaItem.Builder()</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.setUri(videoUrl)</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.setSubtitleConfigurations(Collections.singletonList(sub))</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.build();</a:t>
            </a:r>
          </a:p>
        </p:txBody>
      </p:sp>
      <p:sp>
        <p:nvSpPr>
          <p:cNvPr id="4" name="">
            <a:extLst xmlns:a="http://schemas.openxmlformats.org/drawingml/2006/main">
              <a:ext uri="{FF2B5EF4-FFF2-40B4-BE49-F238E27FC236}">
                <a16:creationId xmlns:a16="http://schemas.microsoft.com/office/drawing/2014/main" id="{B60A15B2-B079-48E2-9698-B6B504F50B59}"/>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subUri: đường dẫn phụ đề WebVTT</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"vi": mã ngôn ngữ, label: tên hiển thị</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Video và chữ vẫn là hai nguồn riêng</a:t>
            </a:r>
          </a:p>
        </p:txBody>
      </p:sp>
      <p:sp>
        <p:nvSpPr>
          <p:cNvPr id="5" name="">
            <a:extLst xmlns:a="http://schemas.openxmlformats.org/drawingml/2006/main">
              <a:ext uri="{FF2B5EF4-FFF2-40B4-BE49-F238E27FC236}">
                <a16:creationId xmlns:a16="http://schemas.microsoft.com/office/drawing/2014/main" id="{582F161A-FD66-47BF-AF42-9F74DF85F8D9}"/>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12</a:t>
            </a:r>
          </a:p>
        </p:txBody>
      </p:sp>
    </p:spTree>
    <p:extLst>
      <p:ext uri="{BB962C8B-B14F-4D97-AF65-F5344CB8AC3E}">
        <p14:creationId xmlns:p14="http://schemas.microsoft.com/office/powerpoint/2010/main" val="9893876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9179C4-14DB-45B6-8F63-0AFCC1AAE16F}"/>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DE67D5F4-A993-40E4-B50C-B071A887B970}"/>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Chọn CC và tránh mục bị lặp</a:t>
            </a:r>
          </a:p>
        </p:txBody>
      </p:sp>
      <p:sp>
        <p:nvSpPr>
          <p:cNvPr id="3" name="">
            <a:extLst xmlns:a="http://schemas.openxmlformats.org/drawingml/2006/main">
              <a:ext uri="{FF2B5EF4-FFF2-40B4-BE49-F238E27FC236}">
                <a16:creationId xmlns:a16="http://schemas.microsoft.com/office/drawing/2014/main" id="{41007490-2B17-4756-A112-78DFDBF96904}"/>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Bấm một text track trong menu</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player.setTrackSelectionParameters(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player.getTrackSelectionParameters().buildUpon()</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.setTrackTypeDisabled(C.TRACK_TYPE_TEXT, false)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.clearOverridesOfType(C.TRACK_TYPE_TEXT)</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.setOverrideForType(new TrackSelectionOverride(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group.getMediaTrackGroup(), trackIndex))</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.build());</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Tắt CC: đổi setTrackTypeDisabled(TEXT, true)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và xóa override của TEXT</a:t>
            </a:r>
          </a:p>
        </p:txBody>
      </p:sp>
      <p:sp>
        <p:nvSpPr>
          <p:cNvPr id="4" name="">
            <a:extLst xmlns:a="http://schemas.openxmlformats.org/drawingml/2006/main">
              <a:ext uri="{FF2B5EF4-FFF2-40B4-BE49-F238E27FC236}">
                <a16:creationId xmlns:a16="http://schemas.microsoft.com/office/drawing/2014/main" id="{2FB05208-7250-4C6F-8AFB-ADD11565ED4F}"/>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Menu đọc text track đã tải trong player</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Chọn theo track, không chỉ theo ngôn ngữ</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Hai bản tiếng Việt vẫn chọn riêng được</a:t>
            </a:r>
          </a:p>
        </p:txBody>
      </p:sp>
      <p:sp>
        <p:nvSpPr>
          <p:cNvPr id="5" name="">
            <a:extLst xmlns:a="http://schemas.openxmlformats.org/drawingml/2006/main">
              <a:ext uri="{FF2B5EF4-FFF2-40B4-BE49-F238E27FC236}">
                <a16:creationId xmlns:a16="http://schemas.microsoft.com/office/drawing/2014/main" id="{8314C06D-D0B1-42A5-9EDC-6564E3A55B32}"/>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13</a:t>
            </a:r>
          </a:p>
        </p:txBody>
      </p:sp>
    </p:spTree>
    <p:extLst>
      <p:ext uri="{BB962C8B-B14F-4D97-AF65-F5344CB8AC3E}">
        <p14:creationId xmlns:p14="http://schemas.microsoft.com/office/powerpoint/2010/main" val="293139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78EB66-92B2-47C0-A985-8241FFCE72F8}"/>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640EE3FD-3562-4A73-82FB-9C5D47125366}"/>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Ghép dub rời với hình đang phát</a:t>
            </a:r>
          </a:p>
        </p:txBody>
      </p:sp>
      <p:sp>
        <p:nvSpPr>
          <p:cNvPr id="3" name="">
            <a:extLst xmlns:a="http://schemas.openxmlformats.org/drawingml/2006/main">
              <a:ext uri="{FF2B5EF4-FFF2-40B4-BE49-F238E27FC236}">
                <a16:creationId xmlns:a16="http://schemas.microsoft.com/office/drawing/2014/main" id="{DCC22465-5371-48C3-AD5B-EAE496D4A42E}"/>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MediaSource picture = new FilteringMediaSource(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buildVideoSource(factory, videoUrl),</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new HashSet&lt;&gt;(Arrays.asList(</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C.TRACK_TYPE_VIDEO, C.TRACK_TYPE_TEXT)));</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MediaSource dub = new FilteringMediaSource(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factory.createMediaSource(MediaItem.fromUri(dubUrl)),</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C.TRACK_TYPE_AUDIO);</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MediaSource merged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new MergingMediaSource(true, false, picture, dub);</a:t>
            </a:r>
          </a:p>
        </p:txBody>
      </p:sp>
      <p:sp>
        <p:nvSpPr>
          <p:cNvPr id="4" name="">
            <a:extLst xmlns:a="http://schemas.openxmlformats.org/drawingml/2006/main">
              <a:ext uri="{FF2B5EF4-FFF2-40B4-BE49-F238E27FC236}">
                <a16:creationId xmlns:a16="http://schemas.microsoft.com/office/drawing/2014/main" id="{4994DE84-3275-422B-BDF6-1FF1FECAB3F3}"/>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Nguồn gốc giữ hình + CC, bỏ tiếng gốc</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Nguồn dub chỉ lấy audio</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Ghép lúc phát, không xuất file video mới</a:t>
            </a:r>
          </a:p>
        </p:txBody>
      </p:sp>
      <p:sp>
        <p:nvSpPr>
          <p:cNvPr id="5" name="">
            <a:extLst xmlns:a="http://schemas.openxmlformats.org/drawingml/2006/main">
              <a:ext uri="{FF2B5EF4-FFF2-40B4-BE49-F238E27FC236}">
                <a16:creationId xmlns:a16="http://schemas.microsoft.com/office/drawing/2014/main" id="{E98D8D70-4070-424C-B117-27483A4A0767}"/>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14</a:t>
            </a:r>
          </a:p>
        </p:txBody>
      </p:sp>
    </p:spTree>
    <p:extLst>
      <p:ext uri="{BB962C8B-B14F-4D97-AF65-F5344CB8AC3E}">
        <p14:creationId xmlns:p14="http://schemas.microsoft.com/office/powerpoint/2010/main" val="20414992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AC5581-CD76-4175-BAB5-F1FB0D199202}"/>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5F22067C-1A7C-4A81-B226-5B3889041A3B}"/>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Đổi dub mà giữ vị trí đang xem</a:t>
            </a:r>
          </a:p>
        </p:txBody>
      </p:sp>
      <p:sp>
        <p:nvSpPr>
          <p:cNvPr id="3" name="">
            <a:extLst xmlns:a="http://schemas.openxmlformats.org/drawingml/2006/main">
              <a:ext uri="{FF2B5EF4-FFF2-40B4-BE49-F238E27FC236}">
                <a16:creationId xmlns:a16="http://schemas.microsoft.com/office/drawing/2014/main" id="{A18D88AA-C74B-44E3-ACDC-F44CBC5AF8B3}"/>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long position = player.getCurrentPosition();</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boolean shouldPlay = player.getPlayWhenReady();</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player.setMediaSource(merged);</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player.prepare();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player.seekTo(position);</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player.setPlayWhenReady(shouldPlay);</a:t>
            </a:r>
          </a:p>
        </p:txBody>
      </p:sp>
      <p:sp>
        <p:nvSpPr>
          <p:cNvPr id="4" name="">
            <a:extLst xmlns:a="http://schemas.openxmlformats.org/drawingml/2006/main">
              <a:ext uri="{FF2B5EF4-FFF2-40B4-BE49-F238E27FC236}">
                <a16:creationId xmlns:a16="http://schemas.microsoft.com/office/drawing/2014/main" id="{1E0D5361-2FEE-41E3-A01C-B249BEFBA9C1}"/>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Lưu vị trí trước khi thay nguồn</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Chuẩn bị nguồn ghép rồi seek về vị trí cũ</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Đang pause thì đổi dub xong vẫn pause</a:t>
            </a:r>
          </a:p>
        </p:txBody>
      </p:sp>
      <p:sp>
        <p:nvSpPr>
          <p:cNvPr id="5" name="">
            <a:extLst xmlns:a="http://schemas.openxmlformats.org/drawingml/2006/main">
              <a:ext uri="{FF2B5EF4-FFF2-40B4-BE49-F238E27FC236}">
                <a16:creationId xmlns:a16="http://schemas.microsoft.com/office/drawing/2014/main" id="{D355EC64-7548-47C3-A5B8-D6139C04B597}"/>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15</a:t>
            </a:r>
          </a:p>
        </p:txBody>
      </p:sp>
    </p:spTree>
    <p:extLst>
      <p:ext uri="{BB962C8B-B14F-4D97-AF65-F5344CB8AC3E}">
        <p14:creationId xmlns:p14="http://schemas.microsoft.com/office/powerpoint/2010/main" val="108761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06117D-D86B-4D40-9385-84ED692B9A07}"/>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76594CBC-AAFC-4499-8AA0-012E1C27638B}"/>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PiP là chế độ cửa sổ của Android</a:t>
            </a:r>
          </a:p>
        </p:txBody>
      </p:sp>
      <p:sp>
        <p:nvSpPr>
          <p:cNvPr id="3" name="">
            <a:extLst xmlns:a="http://schemas.openxmlformats.org/drawingml/2006/main">
              <a:ext uri="{FF2B5EF4-FFF2-40B4-BE49-F238E27FC236}">
                <a16:creationId xmlns:a16="http://schemas.microsoft.com/office/drawing/2014/main" id="{35D9740C-5981-4C2A-A1DC-752003309F1B}"/>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AndroidManifest.xml, trong thẻ activity</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android:supportsPictureInPicture="true"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android:configChanges="orientation|keyboardHidden|screenSize|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smallestScreenSize|screenLayout"</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Kiểm tra trước khi hiện nút PiP</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boolean supported = Build.VERSION.SDK_INT &gt;= 26</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&amp;&amp; getPackageManager().hasSystemFeature(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PackageManager.FEATURE_PICTURE_IN_PICTURE);</a:t>
            </a:r>
          </a:p>
        </p:txBody>
      </p:sp>
      <p:sp>
        <p:nvSpPr>
          <p:cNvPr id="4" name="">
            <a:extLst xmlns:a="http://schemas.openxmlformats.org/drawingml/2006/main">
              <a:ext uri="{FF2B5EF4-FFF2-40B4-BE49-F238E27FC236}">
                <a16:creationId xmlns:a16="http://schemas.microsoft.com/office/drawing/2014/main" id="{C7B19B0C-5A02-4212-A1DE-ACBB991C8BB9}"/>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Video tiếp tục trong cửa sổ nhỏ</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Dùng lại Activity và player hiện tại</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PiP có thể kết hợp với nhiều loại player</a:t>
            </a:r>
          </a:p>
        </p:txBody>
      </p:sp>
      <p:sp>
        <p:nvSpPr>
          <p:cNvPr id="5" name="">
            <a:extLst xmlns:a="http://schemas.openxmlformats.org/drawingml/2006/main">
              <a:ext uri="{FF2B5EF4-FFF2-40B4-BE49-F238E27FC236}">
                <a16:creationId xmlns:a16="http://schemas.microsoft.com/office/drawing/2014/main" id="{5F53B768-4B8C-4864-9011-48C569B05F25}"/>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16</a:t>
            </a:r>
          </a:p>
        </p:txBody>
      </p:sp>
    </p:spTree>
    <p:extLst>
      <p:ext uri="{BB962C8B-B14F-4D97-AF65-F5344CB8AC3E}">
        <p14:creationId xmlns:p14="http://schemas.microsoft.com/office/powerpoint/2010/main" val="189414840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C53DCA-8CCB-4D98-9631-5DCB4EF33059}"/>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661BA106-6A7F-45DA-9B1A-0A565CDEF57B}"/>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Tạo và mở cửa sổ PiP</a:t>
            </a:r>
          </a:p>
        </p:txBody>
      </p:sp>
      <p:sp>
        <p:nvSpPr>
          <p:cNvPr id="3" name="">
            <a:extLst xmlns:a="http://schemas.openxmlformats.org/drawingml/2006/main">
              <a:ext uri="{FF2B5EF4-FFF2-40B4-BE49-F238E27FC236}">
                <a16:creationId xmlns:a16="http://schemas.microsoft.com/office/drawing/2014/main" id="{E8F6B2E7-D399-41B0-B36B-F336853D0CEE}"/>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ratio lấy từ kích thước video, ví dụ 16:9</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PictureInPictureParams params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new PictureInPictureParams.Builder()</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.setAspectRatio(new Rational(16, 9))</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.setSourceRectHint(videoBounds)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.build();</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enterPictureInPictureMode(params);</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Project cũng gọi enterPipMode() từ onUserLeaveHint()</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khi ExoPlayer đang phát và người dùng rời Activity</a:t>
            </a:r>
          </a:p>
        </p:txBody>
      </p:sp>
      <p:sp>
        <p:nvSpPr>
          <p:cNvPr id="4" name="">
            <a:extLst xmlns:a="http://schemas.openxmlformats.org/drawingml/2006/main">
              <a:ext uri="{FF2B5EF4-FFF2-40B4-BE49-F238E27FC236}">
                <a16:creationId xmlns:a16="http://schemas.microsoft.com/office/drawing/2014/main" id="{25DF7803-5D3D-406A-AEAA-899A3582C8D1}"/>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Aspect ratio: hình dạng cửa sổ</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Source rect: vùng video trước khi thu nhỏ</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Một đường gọi từ nút, một đường khi rời app</a:t>
            </a:r>
          </a:p>
        </p:txBody>
      </p:sp>
      <p:sp>
        <p:nvSpPr>
          <p:cNvPr id="5" name="">
            <a:extLst xmlns:a="http://schemas.openxmlformats.org/drawingml/2006/main">
              <a:ext uri="{FF2B5EF4-FFF2-40B4-BE49-F238E27FC236}">
                <a16:creationId xmlns:a16="http://schemas.microsoft.com/office/drawing/2014/main" id="{6C648AAD-F06F-4D04-AEE1-56C726D8059F}"/>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17</a:t>
            </a:r>
          </a:p>
        </p:txBody>
      </p:sp>
    </p:spTree>
    <p:extLst>
      <p:ext uri="{BB962C8B-B14F-4D97-AF65-F5344CB8AC3E}">
        <p14:creationId xmlns:p14="http://schemas.microsoft.com/office/powerpoint/2010/main" val="20435873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DA3466-292A-4795-845C-4F1DB1FE0587}"/>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47DAD63E-066E-4753-8AE4-C705DFE9B5AA}"/>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Play/Pause ngay trong PiP</a:t>
            </a:r>
          </a:p>
        </p:txBody>
      </p:sp>
      <p:sp>
        <p:nvSpPr>
          <p:cNvPr id="3" name="">
            <a:extLst xmlns:a="http://schemas.openxmlformats.org/drawingml/2006/main">
              <a:ext uri="{FF2B5EF4-FFF2-40B4-BE49-F238E27FC236}">
                <a16:creationId xmlns:a16="http://schemas.microsoft.com/office/drawing/2014/main" id="{4D5F0008-6ED7-4E26-91EB-6D6B795BA33D}"/>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Intent intent = new Intent(ACTION_MEDIA_CONTROL)</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.setPackage(getPackageName());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PendingIntent pending = PendingIntent.getBroadcast(</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this, 100, intent,</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PendingIntent.FLAG_UPDATE_CURRENT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PendingIntent.FLAG_IMMUTABLE);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RemoteAction action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new RemoteAction(icon, title, title, pending);</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Thêm action vào PictureInPictureParams.Builder</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builder.setActions(Collections.singletonList(action));</a:t>
            </a:r>
          </a:p>
        </p:txBody>
      </p:sp>
      <p:sp>
        <p:nvSpPr>
          <p:cNvPr id="4" name="">
            <a:extLst xmlns:a="http://schemas.openxmlformats.org/drawingml/2006/main">
              <a:ext uri="{FF2B5EF4-FFF2-40B4-BE49-F238E27FC236}">
                <a16:creationId xmlns:a16="http://schemas.microsoft.com/office/drawing/2014/main" id="{1DFD6014-7AEB-45F8-94A3-E327D44CC497}"/>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Bấm action gửi broadcast về app</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Receiver gọi player.pause() hoặc play()</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Cập nhật icon theo trạng thái hiện tại</a:t>
            </a:r>
          </a:p>
        </p:txBody>
      </p:sp>
      <p:sp>
        <p:nvSpPr>
          <p:cNvPr id="5" name="">
            <a:extLst xmlns:a="http://schemas.openxmlformats.org/drawingml/2006/main">
              <a:ext uri="{FF2B5EF4-FFF2-40B4-BE49-F238E27FC236}">
                <a16:creationId xmlns:a16="http://schemas.microsoft.com/office/drawing/2014/main" id="{BD4E4F60-768A-42B0-9560-CF1C9395B8D2}"/>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18</a:t>
            </a:r>
          </a:p>
        </p:txBody>
      </p:sp>
    </p:spTree>
    <p:extLst>
      <p:ext uri="{BB962C8B-B14F-4D97-AF65-F5344CB8AC3E}">
        <p14:creationId xmlns:p14="http://schemas.microsoft.com/office/powerpoint/2010/main" val="81436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554886-25A1-4BE7-A7A3-898014F5DBFC}"/>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4A46BB0B-4650-43C2-8722-6AFB5B38529B}"/>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PiP và vòng đời của player</a:t>
            </a:r>
          </a:p>
        </p:txBody>
      </p:sp>
      <p:sp>
        <p:nvSpPr>
          <p:cNvPr id="3" name="">
            <a:extLst xmlns:a="http://schemas.openxmlformats.org/drawingml/2006/main">
              <a:ext uri="{FF2B5EF4-FFF2-40B4-BE49-F238E27FC236}">
                <a16:creationId xmlns:a16="http://schemas.microsoft.com/office/drawing/2014/main" id="{D455884C-7557-4A69-ABAA-43B76DFE4927}"/>
              </a:ext>
            </a:extLst>
          </p:cNvPr>
          <p:cNvSpPr>
            <a:spLocks xmlns:a="http://schemas.openxmlformats.org/drawingml/2006/main" noGrp="1"/>
          </p:cNvSpPr>
          <p:nvPr/>
        </p:nvSpPr>
        <p:spPr>
          <a:xfrm xmlns:a="http://schemas.openxmlformats.org/drawingml/2006/main">
            <a:off x="571500" y="1809750"/>
            <a:ext cx="7239000" cy="4048125"/>
          </a:xfrm>
          <a:prstGeom xmlns:a="http://schemas.openxmlformats.org/drawingml/2006/main" prst="rect">
            <a:avLst/>
          </a:prstGeom>
          <a:solidFill xmlns:a="http://schemas.openxmlformats.org/drawingml/2006/main">
            <a:srgbClr val="142039"/>
          </a:solidFill>
          <a:ln xmlns:a="http://schemas.openxmlformats.org/drawingml/2006/main" w="0">
            <a:noFill/>
          </a:ln>
        </p:spPr>
        <p:txBody>
          <a:bodyPr xmlns:a="http://schemas.openxmlformats.org/drawingml/2006/main"/>
          <a:lstStyle xmlns:a="http://schemas.openxmlformats.org/drawingml/2006/main">
            <a:defPPr>
              <a:defRPr sz="1350" b="0">
                <a:solidFill>
                  <a:srgbClr val="E8F2FF"/>
                </a:solidFill>
                <a:latin typeface="Consolas"/>
                <a:ea typeface="Consolas"/>
                <a:cs typeface="Consolas"/>
              </a:defRPr>
            </a:defPPr>
            <a:lvl1pPr>
              <a:defRPr sz="1350" b="0">
                <a:solidFill>
                  <a:srgbClr val="E8F2FF"/>
                </a:solidFill>
                <a:latin typeface="Consolas"/>
                <a:ea typeface="Consolas"/>
                <a:cs typeface="Consolas"/>
              </a:defRPr>
            </a:lvl1pPr>
            <a:lvl2pPr>
              <a:defRPr sz="1350" b="0">
                <a:solidFill>
                  <a:srgbClr val="E8F2FF"/>
                </a:solidFill>
                <a:latin typeface="Consolas"/>
                <a:ea typeface="Consolas"/>
                <a:cs typeface="Consolas"/>
              </a:defRPr>
            </a:lvl2pPr>
            <a:lvl3pPr>
              <a:defRPr sz="1350" b="0">
                <a:solidFill>
                  <a:srgbClr val="E8F2FF"/>
                </a:solidFill>
                <a:latin typeface="Consolas"/>
                <a:ea typeface="Consolas"/>
                <a:cs typeface="Consolas"/>
              </a:defRPr>
            </a:lvl3pPr>
            <a:lvl4pPr>
              <a:defRPr sz="1350" b="0">
                <a:solidFill>
                  <a:srgbClr val="E8F2FF"/>
                </a:solidFill>
                <a:latin typeface="Consolas"/>
                <a:ea typeface="Consolas"/>
                <a:cs typeface="Consolas"/>
              </a:defRPr>
            </a:lvl4pPr>
            <a:lvl5pPr>
              <a:defRPr sz="1350" b="0">
                <a:solidFill>
                  <a:srgbClr val="E8F2FF"/>
                </a:solidFill>
                <a:latin typeface="Consolas"/>
                <a:ea typeface="Consolas"/>
                <a:cs typeface="Consolas"/>
              </a:defRPr>
            </a:lvl5pPr>
            <a:lvl6pPr>
              <a:defRPr sz="1350" b="0">
                <a:solidFill>
                  <a:srgbClr val="E8F2FF"/>
                </a:solidFill>
                <a:latin typeface="Consolas"/>
                <a:ea typeface="Consolas"/>
                <a:cs typeface="Consolas"/>
              </a:defRPr>
            </a:lvl6pPr>
            <a:lvl7pPr>
              <a:defRPr sz="1350" b="0">
                <a:solidFill>
                  <a:srgbClr val="E8F2FF"/>
                </a:solidFill>
                <a:latin typeface="Consolas"/>
                <a:ea typeface="Consolas"/>
                <a:cs typeface="Consolas"/>
              </a:defRPr>
            </a:lvl7pPr>
            <a:lvl8pPr>
              <a:defRPr sz="1350" b="0">
                <a:solidFill>
                  <a:srgbClr val="E8F2FF"/>
                </a:solidFill>
                <a:latin typeface="Consolas"/>
                <a:ea typeface="Consolas"/>
                <a:cs typeface="Consolas"/>
              </a:defRPr>
            </a:lvl8pPr>
            <a:lvl9pPr>
              <a:defRPr sz="1350" b="0">
                <a:solidFill>
                  <a:srgbClr val="E8F2FF"/>
                </a:solidFill>
                <a:latin typeface="Consolas"/>
                <a:ea typeface="Consolas"/>
                <a:cs typeface="Consolas"/>
              </a:defRPr>
            </a:lvl9pPr>
          </a:lstStyle>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Khi PiP thay đổi</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playerView.setUseController(!inPip);</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Ẩn/hiện thanh trên, phần mô tả và mở rộng vùng video</a:t>
            </a:r>
          </a:p>
          <a:p xmlns:a="http://schemas.openxmlformats.org/drawingml/2006/main">
            <a:r>
              <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 onStop(): khi Activity không còn hiển thị</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resumePosition = player.getCurrentPosition();</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resumePlayWhenReady = player.getPlayWhenReady();</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resumeVolume = player.getVolume();</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resumePlaybackParameters = player.getPlaybackParameters();</a:t>
            </a:r>
          </a:p>
          <a:p xmlns:a="http://schemas.openxmlformats.org/drawingml/2006/main">
            <a:pPr>
              <a:defRPr sz="1350" b="0">
                <a:solidFill>
                  <a:srgbClr val="E8F2FF"/>
                </a:solidFill>
                <a:latin typeface="Consolas"/>
                <a:ea typeface="Consolas"/>
                <a:cs typeface="Consolas"/>
              </a:defRPr>
            </a:pPr>
            <a:r>
              <a:rPr sz="1350" b="0">
                <a:solidFill>
                  <a:srgbClr val="E8F2FF"/>
                </a:solidFill>
                <a:latin typeface="Consolas"/>
                <a:ea typeface="Consolas"/>
                <a:cs typeface="Consolas"/>
              </a:rPr>
              <a:t>player.release();</a:t>
            </a:r>
          </a:p>
        </p:txBody>
      </p:sp>
      <p:sp>
        <p:nvSpPr>
          <p:cNvPr id="4" name="">
            <a:extLst xmlns:a="http://schemas.openxmlformats.org/drawingml/2006/main">
              <a:ext uri="{FF2B5EF4-FFF2-40B4-BE49-F238E27FC236}">
                <a16:creationId xmlns:a16="http://schemas.microsoft.com/office/drawing/2014/main" id="{374DF958-7829-40B3-B14B-82B566D0214C}"/>
              </a:ext>
            </a:extLst>
          </p:cNvPr>
          <p:cNvSpPr>
            <a:spLocks xmlns:a="http://schemas.openxmlformats.org/drawingml/2006/main" noGrp="1"/>
          </p:cNvSpPr>
          <p:nvPr/>
        </p:nvSpPr>
        <p:spPr>
          <a:xfrm xmlns:a="http://schemas.openxmlformats.org/drawingml/2006/main">
            <a:off x="8096250" y="1857375"/>
            <a:ext cx="352425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D61"/>
                </a:solidFill>
                <a:latin typeface="Arial"/>
                <a:ea typeface="Arial"/>
                <a:cs typeface="Arial"/>
              </a:defRPr>
            </a:defPPr>
            <a:lvl1pPr>
              <a:defRPr sz="1800" b="0">
                <a:solidFill>
                  <a:srgbClr val="263D61"/>
                </a:solidFill>
                <a:latin typeface="Arial"/>
                <a:ea typeface="Arial"/>
                <a:cs typeface="Arial"/>
              </a:defRPr>
            </a:lvl1pPr>
            <a:lvl2pPr>
              <a:defRPr sz="1800" b="0">
                <a:solidFill>
                  <a:srgbClr val="263D61"/>
                </a:solidFill>
                <a:latin typeface="Arial"/>
                <a:ea typeface="Arial"/>
                <a:cs typeface="Arial"/>
              </a:defRPr>
            </a:lvl2pPr>
            <a:lvl3pPr>
              <a:defRPr sz="1800" b="0">
                <a:solidFill>
                  <a:srgbClr val="263D61"/>
                </a:solidFill>
                <a:latin typeface="Arial"/>
                <a:ea typeface="Arial"/>
                <a:cs typeface="Arial"/>
              </a:defRPr>
            </a:lvl3pPr>
            <a:lvl4pPr>
              <a:defRPr sz="1800" b="0">
                <a:solidFill>
                  <a:srgbClr val="263D61"/>
                </a:solidFill>
                <a:latin typeface="Arial"/>
                <a:ea typeface="Arial"/>
                <a:cs typeface="Arial"/>
              </a:defRPr>
            </a:lvl4pPr>
            <a:lvl5pPr>
              <a:defRPr sz="1800" b="0">
                <a:solidFill>
                  <a:srgbClr val="263D61"/>
                </a:solidFill>
                <a:latin typeface="Arial"/>
                <a:ea typeface="Arial"/>
                <a:cs typeface="Arial"/>
              </a:defRPr>
            </a:lvl5pPr>
            <a:lvl6pPr>
              <a:defRPr sz="1800" b="0">
                <a:solidFill>
                  <a:srgbClr val="263D61"/>
                </a:solidFill>
                <a:latin typeface="Arial"/>
                <a:ea typeface="Arial"/>
                <a:cs typeface="Arial"/>
              </a:defRPr>
            </a:lvl6pPr>
            <a:lvl7pPr>
              <a:defRPr sz="1800" b="0">
                <a:solidFill>
                  <a:srgbClr val="263D61"/>
                </a:solidFill>
                <a:latin typeface="Arial"/>
                <a:ea typeface="Arial"/>
                <a:cs typeface="Arial"/>
              </a:defRPr>
            </a:lvl7pPr>
            <a:lvl8pPr>
              <a:defRPr sz="1800" b="0">
                <a:solidFill>
                  <a:srgbClr val="263D61"/>
                </a:solidFill>
                <a:latin typeface="Arial"/>
                <a:ea typeface="Arial"/>
                <a:cs typeface="Arial"/>
              </a:defRPr>
            </a:lvl8pPr>
            <a:lvl9pPr>
              <a:defRPr sz="1800" b="0">
                <a:solidFill>
                  <a:srgbClr val="263D61"/>
                </a:solidFill>
                <a:latin typeface="Arial"/>
                <a:ea typeface="Arial"/>
                <a:cs typeface="Arial"/>
              </a:defRPr>
            </a:lvl9pPr>
          </a:lstStyle>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Vào PiP: giữ player, ẩn UI không cần thiết</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Không release chỉ vì onPause()</a:t>
            </a:r>
          </a:p>
          <a:p xmlns:a="http://schemas.openxmlformats.org/drawingml/2006/main">
            <a:pPr>
              <a:defRPr sz="1800" b="0">
                <a:solidFill>
                  <a:srgbClr val="263D61"/>
                </a:solidFill>
                <a:latin typeface="Arial"/>
                <a:ea typeface="Arial"/>
                <a:cs typeface="Arial"/>
              </a:defRPr>
            </a:pPr>
            <a:r>
              <a:rPr sz="1800" b="0">
                <a:solidFill>
                  <a:srgbClr val="263D61"/>
                </a:solidFill>
                <a:latin typeface="Arial"/>
                <a:ea typeface="Arial"/>
                <a:cs typeface="Arial"/>
              </a:rPr>
              <a:t>Rời màn hình: lưu trạng thái và giải phóng</a:t>
            </a:r>
          </a:p>
        </p:txBody>
      </p:sp>
      <p:sp>
        <p:nvSpPr>
          <p:cNvPr id="5" name="">
            <a:extLst xmlns:a="http://schemas.openxmlformats.org/drawingml/2006/main">
              <a:ext uri="{FF2B5EF4-FFF2-40B4-BE49-F238E27FC236}">
                <a16:creationId xmlns:a16="http://schemas.microsoft.com/office/drawing/2014/main" id="{682C76BA-D374-4423-8C77-E8ABF3AE83F2}"/>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19</a:t>
            </a:r>
          </a:p>
        </p:txBody>
      </p:sp>
    </p:spTree>
    <p:extLst>
      <p:ext uri="{BB962C8B-B14F-4D97-AF65-F5344CB8AC3E}">
        <p14:creationId xmlns:p14="http://schemas.microsoft.com/office/powerpoint/2010/main" val="2259952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410329-18F0-4F5E-BFDB-B91C7E9FE797}"/>
              </a:ext>
            </a:extLst>
          </p:cNvPr>
          <p:cNvSpPr>
            <a:spLocks xmlns:a="http://schemas.openxmlformats.org/drawingml/2006/main" noGrp="1"/>
          </p:cNvSpPr>
          <p:nvPr/>
        </p:nvSpPr>
        <p:spPr>
          <a:xfrm xmlns:a="http://schemas.openxmlformats.org/drawingml/2006/main">
            <a:off x="571500" y="228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F85"/>
                </a:solidFill>
                <a:latin typeface="Arial"/>
                <a:ea typeface="Arial"/>
                <a:cs typeface="Arial"/>
              </a:defRPr>
            </a:defPPr>
            <a:lvl1pPr>
              <a:defRPr sz="1125" b="1">
                <a:solidFill>
                  <a:srgbClr val="146F85"/>
                </a:solidFill>
                <a:latin typeface="Arial"/>
                <a:ea typeface="Arial"/>
                <a:cs typeface="Arial"/>
              </a:defRPr>
            </a:lvl1pPr>
            <a:lvl2pPr>
              <a:defRPr sz="1125" b="1">
                <a:solidFill>
                  <a:srgbClr val="146F85"/>
                </a:solidFill>
                <a:latin typeface="Arial"/>
                <a:ea typeface="Arial"/>
                <a:cs typeface="Arial"/>
              </a:defRPr>
            </a:lvl2pPr>
            <a:lvl3pPr>
              <a:defRPr sz="1125" b="1">
                <a:solidFill>
                  <a:srgbClr val="146F85"/>
                </a:solidFill>
                <a:latin typeface="Arial"/>
                <a:ea typeface="Arial"/>
                <a:cs typeface="Arial"/>
              </a:defRPr>
            </a:lvl3pPr>
            <a:lvl4pPr>
              <a:defRPr sz="1125" b="1">
                <a:solidFill>
                  <a:srgbClr val="146F85"/>
                </a:solidFill>
                <a:latin typeface="Arial"/>
                <a:ea typeface="Arial"/>
                <a:cs typeface="Arial"/>
              </a:defRPr>
            </a:lvl4pPr>
            <a:lvl5pPr>
              <a:defRPr sz="1125" b="1">
                <a:solidFill>
                  <a:srgbClr val="146F85"/>
                </a:solidFill>
                <a:latin typeface="Arial"/>
                <a:ea typeface="Arial"/>
                <a:cs typeface="Arial"/>
              </a:defRPr>
            </a:lvl5pPr>
            <a:lvl6pPr>
              <a:defRPr sz="1125" b="1">
                <a:solidFill>
                  <a:srgbClr val="146F85"/>
                </a:solidFill>
                <a:latin typeface="Arial"/>
                <a:ea typeface="Arial"/>
                <a:cs typeface="Arial"/>
              </a:defRPr>
            </a:lvl6pPr>
            <a:lvl7pPr>
              <a:defRPr sz="1125" b="1">
                <a:solidFill>
                  <a:srgbClr val="146F85"/>
                </a:solidFill>
                <a:latin typeface="Arial"/>
                <a:ea typeface="Arial"/>
                <a:cs typeface="Arial"/>
              </a:defRPr>
            </a:lvl7pPr>
            <a:lvl8pPr>
              <a:defRPr sz="1125" b="1">
                <a:solidFill>
                  <a:srgbClr val="146F85"/>
                </a:solidFill>
                <a:latin typeface="Arial"/>
                <a:ea typeface="Arial"/>
                <a:cs typeface="Arial"/>
              </a:defRPr>
            </a:lvl8pPr>
            <a:lvl9pPr>
              <a:defRPr sz="1125" b="1">
                <a:solidFill>
                  <a:srgbClr val="146F85"/>
                </a:solidFill>
                <a:latin typeface="Arial"/>
                <a:ea typeface="Arial"/>
                <a:cs typeface="Arial"/>
              </a:defRPr>
            </a:lvl9pPr>
          </a:lstStyle>
          <a:p xmlns:a="http://schemas.openxmlformats.org/drawingml/2006/main">
            <a:pPr>
              <a:defRPr sz="1125" b="1">
                <a:solidFill>
                  <a:srgbClr val="146F85"/>
                </a:solidFill>
                <a:latin typeface="Arial"/>
                <a:ea typeface="Arial"/>
                <a:cs typeface="Arial"/>
              </a:defRPr>
            </a:pPr>
            <a:r>
              <a:rPr sz="1125" b="1">
                <a:solidFill>
                  <a:srgbClr val="146F85"/>
                </a:solidFill>
                <a:latin typeface="Arial"/>
                <a:ea typeface="Arial"/>
                <a:cs typeface="Arial"/>
              </a:rPr>
              <a:t>JETPACK MEDIA3 / PICTURE-IN-PICTURE</a:t>
            </a:r>
          </a:p>
        </p:txBody>
      </p:sp>
      <p:sp>
        <p:nvSpPr>
          <p:cNvPr id="2" name="">
            <a:extLst xmlns:a="http://schemas.openxmlformats.org/drawingml/2006/main">
              <a:ext uri="{FF2B5EF4-FFF2-40B4-BE49-F238E27FC236}">
                <a16:creationId xmlns:a16="http://schemas.microsoft.com/office/drawing/2014/main" id="{6D1693CC-E7C7-48C6-A66C-C0A1FC4627E7}"/>
              </a:ext>
            </a:extLst>
          </p:cNvPr>
          <p:cNvSpPr>
            <a:spLocks xmlns:a="http://schemas.openxmlformats.org/drawingml/2006/main" noGrp="1"/>
          </p:cNvSpPr>
          <p:nvPr/>
        </p:nvSpPr>
        <p:spPr>
          <a:xfrm xmlns:a="http://schemas.openxmlformats.org/drawingml/2006/main">
            <a:off x="571500" y="723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24D"/>
                </a:solidFill>
                <a:latin typeface="Arial"/>
                <a:ea typeface="Arial"/>
                <a:cs typeface="Arial"/>
              </a:defRPr>
            </a:defPPr>
            <a:lvl1pPr>
              <a:defRPr sz="2700" b="1">
                <a:solidFill>
                  <a:srgbClr val="10224D"/>
                </a:solidFill>
                <a:latin typeface="Arial"/>
                <a:ea typeface="Arial"/>
                <a:cs typeface="Arial"/>
              </a:defRPr>
            </a:lvl1pPr>
            <a:lvl2pPr>
              <a:defRPr sz="2700" b="1">
                <a:solidFill>
                  <a:srgbClr val="10224D"/>
                </a:solidFill>
                <a:latin typeface="Arial"/>
                <a:ea typeface="Arial"/>
                <a:cs typeface="Arial"/>
              </a:defRPr>
            </a:lvl2pPr>
            <a:lvl3pPr>
              <a:defRPr sz="2700" b="1">
                <a:solidFill>
                  <a:srgbClr val="10224D"/>
                </a:solidFill>
                <a:latin typeface="Arial"/>
                <a:ea typeface="Arial"/>
                <a:cs typeface="Arial"/>
              </a:defRPr>
            </a:lvl3pPr>
            <a:lvl4pPr>
              <a:defRPr sz="2700" b="1">
                <a:solidFill>
                  <a:srgbClr val="10224D"/>
                </a:solidFill>
                <a:latin typeface="Arial"/>
                <a:ea typeface="Arial"/>
                <a:cs typeface="Arial"/>
              </a:defRPr>
            </a:lvl4pPr>
            <a:lvl5pPr>
              <a:defRPr sz="2700" b="1">
                <a:solidFill>
                  <a:srgbClr val="10224D"/>
                </a:solidFill>
                <a:latin typeface="Arial"/>
                <a:ea typeface="Arial"/>
                <a:cs typeface="Arial"/>
              </a:defRPr>
            </a:lvl5pPr>
            <a:lvl6pPr>
              <a:defRPr sz="2700" b="1">
                <a:solidFill>
                  <a:srgbClr val="10224D"/>
                </a:solidFill>
                <a:latin typeface="Arial"/>
                <a:ea typeface="Arial"/>
                <a:cs typeface="Arial"/>
              </a:defRPr>
            </a:lvl6pPr>
            <a:lvl7pPr>
              <a:defRPr sz="2700" b="1">
                <a:solidFill>
                  <a:srgbClr val="10224D"/>
                </a:solidFill>
                <a:latin typeface="Arial"/>
                <a:ea typeface="Arial"/>
                <a:cs typeface="Arial"/>
              </a:defRPr>
            </a:lvl7pPr>
            <a:lvl8pPr>
              <a:defRPr sz="2700" b="1">
                <a:solidFill>
                  <a:srgbClr val="10224D"/>
                </a:solidFill>
                <a:latin typeface="Arial"/>
                <a:ea typeface="Arial"/>
                <a:cs typeface="Arial"/>
              </a:defRPr>
            </a:lvl8pPr>
            <a:lvl9pPr>
              <a:defRPr sz="2700" b="1">
                <a:solidFill>
                  <a:srgbClr val="10224D"/>
                </a:solidFill>
                <a:latin typeface="Arial"/>
                <a:ea typeface="Arial"/>
                <a:cs typeface="Arial"/>
              </a:defRPr>
            </a:lvl9pPr>
          </a:lstStyle>
          <a:p xmlns:a="http://schemas.openxmlformats.org/drawingml/2006/main">
            <a:pPr>
              <a:defRPr sz="2700" b="1">
                <a:solidFill>
                  <a:srgbClr val="10224D"/>
                </a:solidFill>
                <a:latin typeface="Arial"/>
                <a:ea typeface="Arial"/>
                <a:cs typeface="Arial"/>
              </a:defRPr>
            </a:pPr>
            <a:r>
              <a:rPr sz="2700" b="1">
                <a:solidFill>
                  <a:srgbClr val="10224D"/>
                </a:solidFill>
                <a:latin typeface="Arial"/>
                <a:ea typeface="Arial"/>
                <a:cs typeface="Arial"/>
              </a:rPr>
              <a:t>Demo và những gì nhóm rút ra</a:t>
            </a:r>
          </a:p>
        </p:txBody>
      </p:sp>
      <p:sp>
        <p:nvSpPr>
          <p:cNvPr id="3" name="">
            <a:extLst xmlns:a="http://schemas.openxmlformats.org/drawingml/2006/main">
              <a:ext uri="{FF2B5EF4-FFF2-40B4-BE49-F238E27FC236}">
                <a16:creationId xmlns:a16="http://schemas.microsoft.com/office/drawing/2014/main" id="{48B0D860-532C-4DDB-BC3D-63AE00937264}"/>
              </a:ext>
            </a:extLst>
          </p:cNvPr>
          <p:cNvSpPr>
            <a:spLocks xmlns:a="http://schemas.openxmlformats.org/drawingml/2006/main" noGrp="1"/>
          </p:cNvSpPr>
          <p:nvPr/>
        </p:nvSpPr>
        <p:spPr>
          <a:xfrm xmlns:a="http://schemas.openxmlformats.org/drawingml/2006/main">
            <a:off x="619125" y="2143125"/>
            <a:ext cx="10668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63D61"/>
                </a:solidFill>
                <a:latin typeface="Arial"/>
                <a:ea typeface="Arial"/>
                <a:cs typeface="Arial"/>
              </a:defRPr>
            </a:defPPr>
            <a:lvl1pPr>
              <a:defRPr sz="2250" b="0">
                <a:solidFill>
                  <a:srgbClr val="263D61"/>
                </a:solidFill>
                <a:latin typeface="Arial"/>
                <a:ea typeface="Arial"/>
                <a:cs typeface="Arial"/>
              </a:defRPr>
            </a:lvl1pPr>
            <a:lvl2pPr>
              <a:defRPr sz="2250" b="0">
                <a:solidFill>
                  <a:srgbClr val="263D61"/>
                </a:solidFill>
                <a:latin typeface="Arial"/>
                <a:ea typeface="Arial"/>
                <a:cs typeface="Arial"/>
              </a:defRPr>
            </a:lvl2pPr>
            <a:lvl3pPr>
              <a:defRPr sz="2250" b="0">
                <a:solidFill>
                  <a:srgbClr val="263D61"/>
                </a:solidFill>
                <a:latin typeface="Arial"/>
                <a:ea typeface="Arial"/>
                <a:cs typeface="Arial"/>
              </a:defRPr>
            </a:lvl3pPr>
            <a:lvl4pPr>
              <a:defRPr sz="2250" b="0">
                <a:solidFill>
                  <a:srgbClr val="263D61"/>
                </a:solidFill>
                <a:latin typeface="Arial"/>
                <a:ea typeface="Arial"/>
                <a:cs typeface="Arial"/>
              </a:defRPr>
            </a:lvl4pPr>
            <a:lvl5pPr>
              <a:defRPr sz="2250" b="0">
                <a:solidFill>
                  <a:srgbClr val="263D61"/>
                </a:solidFill>
                <a:latin typeface="Arial"/>
                <a:ea typeface="Arial"/>
                <a:cs typeface="Arial"/>
              </a:defRPr>
            </a:lvl5pPr>
            <a:lvl6pPr>
              <a:defRPr sz="2250" b="0">
                <a:solidFill>
                  <a:srgbClr val="263D61"/>
                </a:solidFill>
                <a:latin typeface="Arial"/>
                <a:ea typeface="Arial"/>
                <a:cs typeface="Arial"/>
              </a:defRPr>
            </a:lvl6pPr>
            <a:lvl7pPr>
              <a:defRPr sz="2250" b="0">
                <a:solidFill>
                  <a:srgbClr val="263D61"/>
                </a:solidFill>
                <a:latin typeface="Arial"/>
                <a:ea typeface="Arial"/>
                <a:cs typeface="Arial"/>
              </a:defRPr>
            </a:lvl7pPr>
            <a:lvl8pPr>
              <a:defRPr sz="2250" b="0">
                <a:solidFill>
                  <a:srgbClr val="263D61"/>
                </a:solidFill>
                <a:latin typeface="Arial"/>
                <a:ea typeface="Arial"/>
                <a:cs typeface="Arial"/>
              </a:defRPr>
            </a:lvl8pPr>
            <a:lvl9pPr>
              <a:defRPr sz="2250" b="0">
                <a:solidFill>
                  <a:srgbClr val="263D61"/>
                </a:solidFill>
                <a:latin typeface="Arial"/>
                <a:ea typeface="Arial"/>
                <a:cs typeface="Arial"/>
              </a:defRPr>
            </a:lvl9pPr>
          </a:lstStyle>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Demo 1: chất lượng, tốc độ và volume</a:t>
            </a:r>
          </a:p>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Demo 2: bật CC, đổi dub, giữ vị trí</a:t>
            </a:r>
          </a:p>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Demo 3: vào PiP, Play/Pause, quay lại app</a:t>
            </a:r>
          </a:p>
          <a:p xmlns:a="http://schemas.openxmlformats.org/drawingml/2006/main">
            <a:r>
              <a:t/>
            </a:r>
          </a:p>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Media3 quản lý phát và track</a:t>
            </a:r>
          </a:p>
          <a:p xmlns:a="http://schemas.openxmlformats.org/drawingml/2006/main">
            <a:pPr>
              <a:defRPr sz="2250" b="0">
                <a:solidFill>
                  <a:srgbClr val="263D61"/>
                </a:solidFill>
                <a:latin typeface="Arial"/>
                <a:ea typeface="Arial"/>
                <a:cs typeface="Arial"/>
              </a:defRPr>
            </a:pPr>
            <a:r>
              <a:rPr sz="2250" b="0">
                <a:solidFill>
                  <a:srgbClr val="263D61"/>
                </a:solidFill>
                <a:latin typeface="Arial"/>
                <a:ea typeface="Arial"/>
                <a:cs typeface="Arial"/>
              </a:rPr>
              <a:t>Android quản lý cửa sổ PiP</a:t>
            </a:r>
          </a:p>
        </p:txBody>
      </p:sp>
      <p:sp>
        <p:nvSpPr>
          <p:cNvPr id="4" name="">
            <a:extLst xmlns:a="http://schemas.openxmlformats.org/drawingml/2006/main">
              <a:ext uri="{FF2B5EF4-FFF2-40B4-BE49-F238E27FC236}">
                <a16:creationId xmlns:a16="http://schemas.microsoft.com/office/drawing/2014/main" id="{7E774E93-FD87-4ED9-9451-3C94C917C9DA}"/>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6F85"/>
                </a:solidFill>
                <a:latin typeface="Arial"/>
                <a:ea typeface="Arial"/>
                <a:cs typeface="Arial"/>
              </a:defRPr>
            </a:defPPr>
            <a:lvl1pPr>
              <a:defRPr sz="1200" b="0">
                <a:solidFill>
                  <a:srgbClr val="146F85"/>
                </a:solidFill>
                <a:latin typeface="Arial"/>
                <a:ea typeface="Arial"/>
                <a:cs typeface="Arial"/>
              </a:defRPr>
            </a:lvl1pPr>
            <a:lvl2pPr>
              <a:defRPr sz="1200" b="0">
                <a:solidFill>
                  <a:srgbClr val="146F85"/>
                </a:solidFill>
                <a:latin typeface="Arial"/>
                <a:ea typeface="Arial"/>
                <a:cs typeface="Arial"/>
              </a:defRPr>
            </a:lvl2pPr>
            <a:lvl3pPr>
              <a:defRPr sz="1200" b="0">
                <a:solidFill>
                  <a:srgbClr val="146F85"/>
                </a:solidFill>
                <a:latin typeface="Arial"/>
                <a:ea typeface="Arial"/>
                <a:cs typeface="Arial"/>
              </a:defRPr>
            </a:lvl3pPr>
            <a:lvl4pPr>
              <a:defRPr sz="1200" b="0">
                <a:solidFill>
                  <a:srgbClr val="146F85"/>
                </a:solidFill>
                <a:latin typeface="Arial"/>
                <a:ea typeface="Arial"/>
                <a:cs typeface="Arial"/>
              </a:defRPr>
            </a:lvl4pPr>
            <a:lvl5pPr>
              <a:defRPr sz="1200" b="0">
                <a:solidFill>
                  <a:srgbClr val="146F85"/>
                </a:solidFill>
                <a:latin typeface="Arial"/>
                <a:ea typeface="Arial"/>
                <a:cs typeface="Arial"/>
              </a:defRPr>
            </a:lvl5pPr>
            <a:lvl6pPr>
              <a:defRPr sz="1200" b="0">
                <a:solidFill>
                  <a:srgbClr val="146F85"/>
                </a:solidFill>
                <a:latin typeface="Arial"/>
                <a:ea typeface="Arial"/>
                <a:cs typeface="Arial"/>
              </a:defRPr>
            </a:lvl6pPr>
            <a:lvl7pPr>
              <a:defRPr sz="1200" b="0">
                <a:solidFill>
                  <a:srgbClr val="146F85"/>
                </a:solidFill>
                <a:latin typeface="Arial"/>
                <a:ea typeface="Arial"/>
                <a:cs typeface="Arial"/>
              </a:defRPr>
            </a:lvl7pPr>
            <a:lvl8pPr>
              <a:defRPr sz="1200" b="0">
                <a:solidFill>
                  <a:srgbClr val="146F85"/>
                </a:solidFill>
                <a:latin typeface="Arial"/>
                <a:ea typeface="Arial"/>
                <a:cs typeface="Arial"/>
              </a:defRPr>
            </a:lvl8pPr>
            <a:lvl9pPr>
              <a:defRPr sz="1200" b="0">
                <a:solidFill>
                  <a:srgbClr val="146F85"/>
                </a:solidFill>
                <a:latin typeface="Arial"/>
                <a:ea typeface="Arial"/>
                <a:cs typeface="Arial"/>
              </a:defRPr>
            </a:lvl9pPr>
          </a:lstStyle>
          <a:p xmlns:a="http://schemas.openxmlformats.org/drawingml/2006/main">
            <a:pPr>
              <a:defRPr sz="1200" b="0">
                <a:solidFill>
                  <a:srgbClr val="146F85"/>
                </a:solidFill>
                <a:latin typeface="Arial"/>
                <a:ea typeface="Arial"/>
                <a:cs typeface="Arial"/>
              </a:defRPr>
            </a:pPr>
            <a:r>
              <a:rPr sz="1200" b="0">
                <a:solidFill>
                  <a:srgbClr val="146F85"/>
                </a:solidFill>
                <a:latin typeface="Arial"/>
                <a:ea typeface="Arial"/>
                <a:cs typeface="Arial"/>
              </a:rPr>
              <a:t>20</a:t>
            </a:r>
          </a:p>
        </p:txBody>
      </p:sp>
    </p:spTree>
    <p:extLst>
      <p:ext uri="{BB962C8B-B14F-4D97-AF65-F5344CB8AC3E}">
        <p14:creationId xmlns:p14="http://schemas.microsoft.com/office/powerpoint/2010/main" val="6414764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2026-10-18T04:10:57.0900000Z</dcterms:created>
  <dcterms:modified xsi:type="dcterms:W3CDTF">2026-10-18T04:10:57.0900000Z</dcterms:modified>
</coreProperties>
</file>